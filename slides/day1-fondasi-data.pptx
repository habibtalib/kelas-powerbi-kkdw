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Pembukaan Hari 1. Tekankan: dashboard yang baik bermula dengan data yang betul. Aliran kerja 5 peringkat.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Peringkat 1-2 (Data + Fabric) ialah fokus hari ini. 3-5 datang Hari 2 &amp;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Berdasarkan Cadangan Use Case KKDW. Tema: dashboard bersepadu JPD+BELB dengan MyProjek. MyProjek paling kaya (kewangan + kemajuan) — tulang belakang analitik risiko Hari 3. Soalan pengurusan utama ini ialah capstone kursus (Hari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Bengkel SESI 1: peserta senaraikan soalan pengurusan sebenar. Ini jadi panduan reka dashboard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 BI kini sebahagian daripada Fabric. Copilot memerlukan lesen (F64+) — sahkan dengan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Sediakan alat dahulu. macOS → guna Fabric pelayar (Laluan A). Windows → boleh Desktop. Sahkan lesen Fabric/Copilot (F2+) dengan IT sebelum kelas. Panduan admin penuh: slides/fabric-guide (Bahagian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tenggelam dalam istilah — tekankan OneLake (satu tempat) &amp; Lakehouse (fail+jadual). Lakehouse &amp; Warehouse serupa; beza: Warehouse T-SQL baca+tulis, Lakehouse SQL baca-sahaja + Spark — pemula guna Lakehouse. Sahkan lesen dengan IT KKDW. 📘 Buku Bab 7 (Lakehouse ms 136, Warehouse ms 141).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kerana dataset kecil. Selalu klik Transform Data, bukan Load, supaya masuk Power Query. Direct Lake ialah mode khas Fabric (data di Lakehouse/Warehouse): laju macam Import tetapi sentiasa terkini, tiada jadual refresh — bukan skop kursus, tapi arah tuju bila KKDW naik taraf. 📘 Buku Bab 7, Direct Lake ms 146–148.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Applied Steps ialah kuasa Power Query — auto-ulang bila data dikemas kini. Tunjuk Conditional Column secara langsung.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 = tambah baris (JPD+BELB). Merge = tambah lajur (bawa kewangan MyProjek). Tekankan beza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 schema = prestasi + drill-down. Satu jadual raksasa = perlahan &amp; bertindih. Dimensi mengelilingi fakta.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Date table khusus supaya YoY &amp; time intelligence berfungsi. Mark as Date Table penting.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Deliverable Hari 1 = hari-1.pbix dengan model bersepadu bersih. Lab penuh dalam hari-1/snippets/lab.md.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pencapaian Hari 1 + teaser Hari 2. Ingatkan simpan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Tangkapan skrin sebenar dari tenant Fabric KKDW semasa persediaan kelas (SESI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Jadual bersepadu Projek_Program + model bersepadu (SESI 4–5). Dibina tanpa Power BI Desktop.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Penutup Hari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Arial"/>
              </a:rPr>
              <a:t>Power BI · Microsoft Fabric ·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Hari 1 — Fondasi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EF1F6"/>
                </a:solidFill>
                <a:latin typeface="Arial"/>
              </a:rPr>
              <a:t>Microsoft Fabric · Power Query · </a:t>
            </a:r>
            <a:r>
              <a:rPr sz="2600" b="1" i="0">
                <a:solidFill>
                  <a:srgbClr val="F2C811"/>
                </a:solidFill>
                <a:latin typeface="Arial"/>
              </a:rPr>
              <a:t>Pemodelan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Arial"/>
              </a:rPr>
              <a:t>Tema use-case: </a:t>
            </a:r>
            <a:r>
              <a:rPr sz="1500" b="0" i="0">
                <a:solidFill>
                  <a:srgbClr val="9AA4B2"/>
                </a:solidFill>
                <a:latin typeface="Arial"/>
              </a:rPr>
              <a:t>Pemantauan Prestasi Program JPD &amp; BELB Bersepadu dengan MyProjek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09160"/>
            <a:ext cx="541324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7124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7748" y="4709160"/>
            <a:ext cx="720547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Fabric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8296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4709160"/>
            <a:ext cx="899769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Power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689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09313" y="4709160"/>
            <a:ext cx="899769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Analitik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9083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9707" y="4709160"/>
            <a:ext cx="810158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Copilot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76072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574243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Hari ini: bina satu model data bersepadu yang bersih &amp; sedia untuk analisis. Belum visual — itu Hari 2.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51642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ALIRAN KERJA KURSUS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Lima peringkat,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satu matlamat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12264"/>
            <a:ext cx="457200" cy="457200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965960"/>
            <a:ext cx="10180015" cy="749808"/>
          </a:xfrm>
          <a:prstGeom prst="roundRect">
            <a:avLst/>
          </a:prstGeom>
          <a:solidFill>
            <a:srgbClr val="332C16"/>
          </a:solidFill>
          <a:ln w="12700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08483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112264"/>
            <a:ext cx="6979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Kumpul JPD, BELB &amp; MyProjek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90088"/>
            <a:ext cx="457200" cy="457200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843784"/>
            <a:ext cx="10180015" cy="749808"/>
          </a:xfrm>
          <a:prstGeom prst="roundRect">
            <a:avLst/>
          </a:prstGeom>
          <a:solidFill>
            <a:srgbClr val="332C16"/>
          </a:solidFill>
          <a:ln w="12700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9626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Fabric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990088"/>
            <a:ext cx="6979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Sedia, transform, integrasi &amp;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67912"/>
            <a:ext cx="457200" cy="457200"/>
          </a:xfrm>
          <a:prstGeom prst="roundRect">
            <a:avLst/>
          </a:prstGeom>
          <a:solidFill>
            <a:srgbClr val="4A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3721608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8404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Power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867912"/>
            <a:ext cx="6979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KPI, visual, drill-down, peta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45736"/>
            <a:ext cx="457200" cy="457200"/>
          </a:xfrm>
          <a:prstGeom prst="roundRect">
            <a:avLst/>
          </a:prstGeom>
          <a:solidFill>
            <a:srgbClr val="4A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4599431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718303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Analitik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4745736"/>
            <a:ext cx="6979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Risk Score, Fizikal vs Kewangan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623560"/>
            <a:ext cx="457200" cy="457200"/>
          </a:xfrm>
          <a:prstGeom prst="roundRect">
            <a:avLst/>
          </a:prstGeom>
          <a:solidFill>
            <a:srgbClr val="4A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5477256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55961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623560"/>
            <a:ext cx="6979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Tanya data, ringkasan eksekutif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19842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2C811"/>
                </a:solidFill>
                <a:latin typeface="Arial"/>
              </a:rPr>
              <a:t>◄ Fokus Hari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825142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KONTEKS KKDW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Use-case sebenar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pembangunan luar bandar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D84D"/>
                </a:solidFill>
                <a:latin typeface="Arial"/>
              </a:rPr>
              <a:t>Tema: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Dashboard Pintar Pemantauan Prestasi Program JPD &amp; BELB Bersepadu dengan MyProjek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3393338" cy="214884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4231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🛣️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8072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JPD — 1,376 projek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191256"/>
            <a:ext cx="299100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Jalan Perhubungan Desa · kos, panjang jalan, negeri, status, koordinat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240280"/>
            <a:ext cx="3393338" cy="214884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0346" y="24231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346" y="28072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BELB — 23 projek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346" y="3191256"/>
            <a:ext cx="299100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Bekalan Elektrik Luar Bandar · kampung, peserta, kos,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2240280"/>
            <a:ext cx="3393338" cy="214884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4231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3724" y="28072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MyProjek — 77 projek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3724" y="3191256"/>
            <a:ext cx="299100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Pemantauan RMK · % jadual vs sebenar, peruntukan, belanja, baki, KPI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81728"/>
            <a:ext cx="10820095" cy="86868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4632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C811"/>
                </a:solidFill>
                <a:latin typeface="Arial"/>
              </a:rPr>
              <a:t>Soalan pengurusan utama: </a:t>
            </a:r>
            <a:r>
              <a:rPr sz="1400" b="0" i="0">
                <a:solidFill>
                  <a:srgbClr val="EEF1F6"/>
                </a:solidFill>
                <a:latin typeface="Arial"/>
              </a:rPr>
              <a:t>projek &amp; kawasan JPD/BELB manakah perlu diberi keutamaan oleh KKDW — dan mengapa?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41767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KENAPA VISUALISASI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Dari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1,476 baris</a:t>
            </a:r>
            <a:r>
              <a:rPr sz="3800" b="1" i="0">
                <a:solidFill>
                  <a:srgbClr val="FFFFFF"/>
                </a:solidFill>
                <a:latin typeface="Arial"/>
              </a:rPr>
              <a:t> kepada jawapan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4B2"/>
                </a:solidFill>
                <a:latin typeface="Arial"/>
              </a:rPr>
              <a:t>Dalam Excel mentah, pengurusan tak nampak dengan pantas: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108200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•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Projek mana </a:t>
            </a:r>
            <a:r>
              <a:rPr sz="1700" b="1" i="0">
                <a:solidFill>
                  <a:srgbClr val="EEF1F6"/>
                </a:solidFill>
                <a:latin typeface="Arial"/>
              </a:rPr>
              <a:t>lewat atau berisiko</a:t>
            </a:r>
            <a:r>
              <a:rPr sz="1700" b="0" i="0">
                <a:solidFill>
                  <a:srgbClr val="EEF1F6"/>
                </a:solidFill>
                <a:latin typeface="Arial"/>
              </a:rPr>
              <a:t>?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•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Negeri/kawasan mana perlu diberi </a:t>
            </a:r>
            <a:r>
              <a:rPr sz="1700" b="1" i="0">
                <a:solidFill>
                  <a:srgbClr val="EEF1F6"/>
                </a:solidFill>
                <a:latin typeface="Arial"/>
              </a:rPr>
              <a:t>keutamaan</a:t>
            </a:r>
            <a:r>
              <a:rPr sz="1700" b="0" i="0">
                <a:solidFill>
                  <a:srgbClr val="EEF1F6"/>
                </a:solidFill>
                <a:latin typeface="Arial"/>
              </a:rPr>
              <a:t>?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•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Di mana </a:t>
            </a:r>
            <a:r>
              <a:rPr sz="1700" b="1" i="0">
                <a:solidFill>
                  <a:srgbClr val="EEF1F6"/>
                </a:solidFill>
                <a:latin typeface="Arial"/>
              </a:rPr>
              <a:t>peruntukan tinggi tetapi kemajuan fizikal rendah</a:t>
            </a:r>
            <a:r>
              <a:rPr sz="1700" b="0" i="0">
                <a:solidFill>
                  <a:srgbClr val="EEF1F6"/>
                </a:solidFill>
                <a:latin typeface="Arial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297680"/>
            <a:ext cx="10820095" cy="91440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526280"/>
            <a:ext cx="10271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EF1F6"/>
                </a:solidFill>
                <a:latin typeface="Arial"/>
              </a:rPr>
              <a:t>Dashboard menjawab dalam </a:t>
            </a:r>
            <a:r>
              <a:rPr sz="1600" b="1" i="0">
                <a:solidFill>
                  <a:srgbClr val="F2C811"/>
                </a:solidFill>
                <a:latin typeface="Arial"/>
              </a:rPr>
              <a:t>beberapa saat</a:t>
            </a:r>
            <a:r>
              <a:rPr sz="1600" b="0" i="0">
                <a:solidFill>
                  <a:srgbClr val="EEF1F6"/>
                </a:solidFill>
                <a:latin typeface="Arial"/>
              </a:rPr>
              <a:t> — bukan berjam-jam menapis Excel.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528876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EKOSISTEM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Tiga alat,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tiga peranan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393338" cy="210312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945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🗄️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786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Microsoft Fabric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62656"/>
            <a:ext cx="2991002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Platform data bersepadu — simpan, sedia, transform &amp; model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011680"/>
            <a:ext cx="3393338" cy="210312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0346" y="21945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346" y="25786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346" y="2962656"/>
            <a:ext cx="2991002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Bina visual, dashboard &amp; laporan interaktif di atas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2556" y="2011680"/>
            <a:ext cx="3393338" cy="210312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1945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25786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Copilot /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3724" y="2962656"/>
            <a:ext cx="2991002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Pembantu pintar — tanya data bahasa biasa, jana insight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72000"/>
            <a:ext cx="10820095" cy="9144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736592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2C811"/>
                </a:solidFill>
                <a:latin typeface="Arial"/>
              </a:rPr>
              <a:t>Analogi: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Fabric = gudang &amp; bilik sedia data · Power BI = bilik pameran · Copilot = pegawai analisis maya.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627632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PERSEDIAAN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Mula di sini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— sediakan alat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27167" cy="246888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C811"/>
                </a:solidFill>
                <a:latin typeface="Arial"/>
              </a:rPr>
              <a:t>Laluan A · Fabric pelayar — WAJIB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467852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Semua peserta · mana-mana OS (macOS)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1" i="0">
                <a:solidFill>
                  <a:srgbClr val="EEF1F6"/>
                </a:solidFill>
                <a:latin typeface="Arial"/>
              </a:rPr>
              <a:t>Fabric + Copilot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— hanya di sini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FFE9A8"/>
                </a:solidFill>
                <a:latin typeface="Consolas"/>
              </a:rPr>
              <a:t>app.fabric.microsoft.com</a:t>
            </a:r>
            <a:r>
              <a:rPr sz="1300" b="0" i="0">
                <a:solidFill>
                  <a:srgbClr val="EEF1F6"/>
                </a:solidFill>
                <a:latin typeface="Arial"/>
              </a:rPr>
              <a:t> → log masuk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Boleh laksana keseluruhan Hari 1–3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965960"/>
            <a:ext cx="5227167" cy="24688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EF1F6"/>
                </a:solidFill>
                <a:latin typeface="Arial"/>
              </a:rPr>
              <a:t>Laluan B · Desktop — PILIHAN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743200"/>
            <a:ext cx="467852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Windows sahaja · pilihan tambahan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Authoring laporan/DAX (Hari 2–3)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Tak boleh </a:t>
            </a:r>
            <a:r>
              <a:rPr sz="1300" b="1" i="0">
                <a:solidFill>
                  <a:srgbClr val="EEF1F6"/>
                </a:solidFill>
                <a:latin typeface="Arial"/>
              </a:rPr>
              <a:t>Fabric/Lakehouse/Copilot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macOS → guna Power BI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53712"/>
            <a:ext cx="10820095" cy="658368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4AB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690872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B3E0"/>
                </a:solidFill>
                <a:latin typeface="Arial"/>
              </a:rPr>
              <a:t>Lesen: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Fabric penuh + Copilot perlu kapasiti F2+ berbayar (trial tiada Copilot). Sahkan dengan IT KKDW.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39496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37667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Hari 1 (data + model) boleh 100% pelayar (Fabric) — tiada Desktop perlu. Desktop (Windows) untuk Hari 2–3.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108960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2 · MICROSOFT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Istilah Fabric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yang perlu tahu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743200" cy="530352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Consolas"/>
              </a:rPr>
              <a:t>OneLake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084831"/>
            <a:ext cx="7802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"OneDrive untuk data" — satu tasik data untuk seluruh KKDW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24328"/>
            <a:ext cx="2743200" cy="530352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Consolas"/>
              </a:rPr>
              <a:t>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743200"/>
            <a:ext cx="7802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Ruang kerja berkumpulan — simpan &amp; kongsi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82696"/>
            <a:ext cx="2743200" cy="530352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015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Consolas"/>
              </a:rPr>
              <a:t>Lakehouse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401568"/>
            <a:ext cx="7802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Fail mentah + jadual berstruktur dalam satu tempat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41064"/>
            <a:ext cx="2743200" cy="530352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5993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Consolas"/>
              </a:rPr>
              <a:t>Dataflows Gen2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059936"/>
            <a:ext cx="7802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Power Query di awan — transformasi boleh dijadual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99431"/>
            <a:ext cx="2743200" cy="530352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18303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Consolas"/>
              </a:rPr>
              <a:t>Semantic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718303"/>
            <a:ext cx="7802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Model data (jadual + relationships + measures)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4864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54681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Lesen: ciri penuh Fabric perlukan F64+. Lakehouse (no-code, pemula) vs Warehouse (mahir T-SQL) — kursus guna Lakehouse. Boleh 100% Power BI Desktop jika perlu.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51642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MODE SAMBUNGAN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Import, DirectQuery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&amp; Direct Lake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27167" cy="246888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C811"/>
                </a:solidFill>
                <a:latin typeface="Arial"/>
              </a:rPr>
              <a:t>Import  ✓ pilihan kita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467852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Data disimpan dalam .pbix (dalam memori)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Sangat pantas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Sesuai data kecil–sederhana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Data KKDW kecil → </a:t>
            </a:r>
            <a:r>
              <a:rPr sz="1350" b="1" i="0">
                <a:solidFill>
                  <a:srgbClr val="EEF1F6"/>
                </a:solidFill>
                <a:latin typeface="Arial"/>
              </a:rPr>
              <a:t>guna Import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965960"/>
            <a:ext cx="5227167" cy="24688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1F6"/>
                </a:solidFill>
                <a:latin typeface="Arial"/>
              </a:rPr>
              <a:t>DirectQuery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788920"/>
            <a:ext cx="467852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Data kekal di sumber; ditanya masa nyata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Kelajuan bergantung sumber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Sesuai data sangat besar / langsung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Untuk kemudian, bukan kursus 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53712"/>
            <a:ext cx="10820095" cy="658368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4AB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690872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B3E0"/>
                </a:solidFill>
                <a:latin typeface="Arial"/>
              </a:rPr>
              <a:t>Mode ketiga (Fabric):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Direct Lake</a:t>
            </a:r>
            <a:r>
              <a:rPr sz="1300" b="0" i="0">
                <a:solidFill>
                  <a:srgbClr val="EEF1F6"/>
                </a:solidFill>
                <a:latin typeface="Arial"/>
              </a:rPr>
              <a:t> — kelajuan Import tanpa perlu refresh; hanya bila data di Lakehouse/Warehouse. Tidak diguna dalam kursus ini.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39496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37667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Get Data → Excel → Transform Data (bukan Load terus) — kita bersihkan dulu di SESI 3.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615184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3 · POWER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Bersihkan data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sebelum 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5486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Applied Steps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setiap langkah direkod, boleh diulang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Jenis data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kos_projek → Decimal, tahun → Whole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Kendali null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&amp; buang lajur teknikal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Standardkan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negeri, daerah, status (UPPERCASE + Trim)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Conditional Column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kategori status ringkas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74519"/>
            <a:ext cx="5105095" cy="237744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74519"/>
            <a:ext cx="54864" cy="23774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2" y="2002536"/>
            <a:ext cx="4647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Consolas"/>
              </a:rPr>
              <a:t>kategori_status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2313432"/>
            <a:ext cx="464789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JIKA status = "PASCA PELAKSANAAN"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   → "Siap"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JIKA status = "DALAM PELAKSANAAN"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   → "Dalam Pelaksanaan"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selainnya → "Belum Mula / Lain"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70916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69087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Data sebenar JPD: PASCA PELAKSANAAN (949) · DALAM PELAKSANAAN (405). Seragamkan supaya visual status konsisten.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41767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4 · INTEGRASI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Gabung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tiga fail</a:t>
            </a:r>
            <a:r>
              <a:rPr sz="3800" b="1" i="0">
                <a:solidFill>
                  <a:srgbClr val="FFFFFF"/>
                </a:solidFill>
                <a:latin typeface="Arial"/>
              </a:rPr>
              <a:t> jadi satu pandangan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27167" cy="24688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D84D"/>
                </a:solidFill>
                <a:latin typeface="Arial"/>
              </a:rPr>
              <a:t>Append — susun baris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467852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Cantum jadual struktur sama. Gabung </a:t>
            </a:r>
            <a:r>
              <a:rPr sz="1400" b="1" i="0">
                <a:solidFill>
                  <a:srgbClr val="FFFFFF"/>
                </a:solidFill>
                <a:latin typeface="Arial"/>
              </a:rPr>
              <a:t>JPD + BELB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→ satu jadual Projek_Program dengan lajur </a:t>
            </a:r>
            <a:r>
              <a:rPr sz="1400" b="0" i="0">
                <a:solidFill>
                  <a:srgbClr val="FFE9A8"/>
                </a:solidFill>
                <a:latin typeface="Consolas"/>
              </a:rPr>
              <a:t>program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= JPD/BELB.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965960"/>
            <a:ext cx="5227167" cy="24688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D84D"/>
                </a:solidFill>
                <a:latin typeface="Arial"/>
              </a:rPr>
              <a:t>Merge — gabung lajur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697480"/>
            <a:ext cx="467852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Bawa lajur dari jadual lain ikut kunci padanan </a:t>
            </a:r>
            <a:r>
              <a:rPr sz="1400" b="0" i="0">
                <a:solidFill>
                  <a:srgbClr val="FFE9A8"/>
                </a:solidFill>
                <a:latin typeface="Consolas"/>
              </a:rPr>
              <a:t>kod_projek</a:t>
            </a:r>
            <a:r>
              <a:rPr sz="1400" b="0" i="0">
                <a:solidFill>
                  <a:srgbClr val="EEF1F6"/>
                </a:solidFill>
                <a:latin typeface="Arial"/>
              </a:rPr>
              <a:t>. Seperti VLOOKUP tetapi lebih berkuasa — kaitkan kewangan MyProjek.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006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7823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Hasil: satu pandangan projek yang boleh ditapis ikut program, negeri &amp;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41767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5 · PEMODELAN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C811"/>
                </a:solidFill>
                <a:latin typeface="Arial"/>
              </a:rPr>
              <a:t>Star Schema</a:t>
            </a:r>
            <a:r>
              <a:rPr sz="3800" b="1" i="0">
                <a:solidFill>
                  <a:srgbClr val="FFFFFF"/>
                </a:solidFill>
                <a:latin typeface="Arial"/>
              </a:rPr>
              <a:t> — bukan satu jadual besar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3200400"/>
            <a:ext cx="2377440" cy="868680"/>
          </a:xfrm>
          <a:prstGeom prst="roundRect">
            <a:avLst/>
          </a:prstGeom>
          <a:solidFill>
            <a:srgbClr val="332C16"/>
          </a:solidFill>
          <a:ln w="19050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336499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Fakta_Projek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675887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kos · belanja · % kemajuan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011680"/>
            <a:ext cx="2011680" cy="6400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D84D"/>
                </a:solidFill>
                <a:latin typeface="Consolas"/>
              </a:rPr>
              <a:t>Dim_Negeri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206240"/>
            <a:ext cx="2011680" cy="6400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370831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D84D"/>
                </a:solidFill>
                <a:latin typeface="Consolas"/>
              </a:rPr>
              <a:t>Dim_Status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2011680" cy="6400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D84D"/>
                </a:solidFill>
                <a:latin typeface="Consolas"/>
              </a:rPr>
              <a:t>Dim_Tarikh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206240"/>
            <a:ext cx="2011680" cy="6400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370831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D84D"/>
                </a:solidFill>
                <a:latin typeface="Consolas"/>
              </a:rPr>
              <a:t>Dim_Agensi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1208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2C811"/>
                </a:solidFill>
                <a:latin typeface="Arial"/>
              </a:rPr>
              <a:t>Fakta</a:t>
            </a:r>
            <a:r>
              <a:rPr sz="1350" b="0" i="0">
                <a:solidFill>
                  <a:srgbClr val="EEF1F6"/>
                </a:solidFill>
                <a:latin typeface="Arial"/>
              </a:rPr>
              <a:t> = nombor diukur (satu baris = satu projek).  </a:t>
            </a:r>
            <a:r>
              <a:rPr sz="1350" b="1" i="0">
                <a:solidFill>
                  <a:srgbClr val="FFD84D"/>
                </a:solidFill>
                <a:latin typeface="Arial"/>
              </a:rPr>
              <a:t>Dimensi</a:t>
            </a:r>
            <a:r>
              <a:rPr sz="1350" b="0" i="0">
                <a:solidFill>
                  <a:srgbClr val="EEF1F6"/>
                </a:solidFill>
                <a:latin typeface="Arial"/>
              </a:rPr>
              <a:t> = konteks untuk tapis/kumpul.  Relationship one-to-many.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51642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5 · DATE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C811"/>
                </a:solidFill>
                <a:latin typeface="Arial"/>
              </a:rPr>
              <a:t>Date table </a:t>
            </a:r>
            <a:r>
              <a:rPr sz="3800" b="1" i="0">
                <a:solidFill>
                  <a:srgbClr val="FFFFFF"/>
                </a:solidFill>
                <a:latin typeface="Arial"/>
              </a:rPr>
              <a:t>— wajib untuk analisis masa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669280" cy="155448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54864" cy="155448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482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Consolas"/>
              </a:rPr>
              <a:t>New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59152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FFE9A8"/>
                </a:solidFill>
                <a:latin typeface="Consolas"/>
              </a:rPr>
              <a:t>Dim_Tarikh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FFE9A8"/>
                </a:solidFill>
                <a:latin typeface="Consolas"/>
              </a:rPr>
              <a:t>CALENDAR (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FFE9A8"/>
                </a:solidFill>
                <a:latin typeface="Consolas"/>
              </a:rPr>
              <a:t>   DATE ( 2015, 1, 1 ),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FFE9A8"/>
                </a:solidFill>
                <a:latin typeface="Consolas"/>
              </a:rPr>
              <a:t>   DATE ( 2030, 12, 31 )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830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Tambah lajur </a:t>
            </a:r>
            <a:r>
              <a:rPr sz="1350" b="0" i="0">
                <a:solidFill>
                  <a:srgbClr val="FFE9A8"/>
                </a:solidFill>
                <a:latin typeface="Consolas"/>
              </a:rPr>
              <a:t>Tahun = YEAR(Date)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Mark as Date Table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Berdasarkan tahun_jangka_mula / siap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Membolehkan Time Intelligence (Hari 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94760"/>
            <a:ext cx="10820095" cy="141732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77639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D84D"/>
                </a:solidFill>
                <a:latin typeface="Arial"/>
              </a:rPr>
              <a:t>Amalan terbaik pemodelan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89120"/>
            <a:ext cx="102714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C811"/>
                </a:solidFill>
                <a:latin typeface="Arial"/>
              </a:rPr>
              <a:t>•  </a:t>
            </a:r>
            <a:r>
              <a:rPr sz="1250" b="0" i="0">
                <a:solidFill>
                  <a:srgbClr val="EEF1F6"/>
                </a:solidFill>
                <a:latin typeface="Arial"/>
              </a:rPr>
              <a:t>Sembunyikan lajur teknikal (id, kunci) daripada paparan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C811"/>
                </a:solidFill>
                <a:latin typeface="Arial"/>
              </a:rPr>
              <a:t>•  </a:t>
            </a:r>
            <a:r>
              <a:rPr sz="1250" b="0" i="0">
                <a:solidFill>
                  <a:srgbClr val="EEF1F6"/>
                </a:solidFill>
                <a:latin typeface="Arial"/>
              </a:rPr>
              <a:t>Elak relationship many-to-many melainkan perlu · satu Date table aktif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627632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LAB HARI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Checklist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sebelum balik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82009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☐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Ketiga-tiga set data dimuat &amp; dibersihkan dalam Power Query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☐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Medan negeri, status_pelaksanaan &amp; kewangan bertaip betul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☐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Jadual dimensi + Date table wujud (Mark as Date Table)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☐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Relationships dibina — star schema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☐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Fail disimpan sebagai </a:t>
            </a:r>
            <a:r>
              <a:rPr sz="1700" b="1" i="0">
                <a:solidFill>
                  <a:srgbClr val="FFE9A8"/>
                </a:solidFill>
                <a:latin typeface="Consolas"/>
              </a:rPr>
              <a:t>hari-1.pbix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22016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RINGKASAN HARI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Anda telah bina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fondasi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Faham ekosistem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Power BI · Fabric · Copilot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Muat &amp; bersihkan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JPD, BELB, MyProjek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(Power Query)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Gabung data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(Append + Merge)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jadi satu pandangan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Bina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star schema + Date table + relationships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14800"/>
            <a:ext cx="3393338" cy="169164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29768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68172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Esok · Hari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065776"/>
            <a:ext cx="299100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4B2"/>
                </a:solidFill>
                <a:latin typeface="Arial"/>
              </a:rPr>
              <a:t>DAX, visual, drill-down &amp; 4 halaman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4114800"/>
            <a:ext cx="3393338" cy="169164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0346" y="429768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346" y="468172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346" y="5065776"/>
            <a:ext cx="299100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4B2"/>
                </a:solidFill>
                <a:latin typeface="Arial"/>
              </a:rPr>
              <a:t>Measures: Jumlah Projek, Peruntukan, % Utilisasi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4114800"/>
            <a:ext cx="3393338" cy="169164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429768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🗺️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3724" y="468172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Peta &amp; drill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3724" y="5065776"/>
            <a:ext cx="299100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4B2"/>
                </a:solidFill>
                <a:latin typeface="Arial"/>
              </a:rPr>
              <a:t>Malaysia → Negeri → Daerah → Kampung → Projek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9436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9253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Simpan hari-1.pbix — esok kita hidupkan data ini dengan DAX &amp; visual. AI membantu, anda memandu.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997756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LAMPIRAN · TANGKAPAN SKRIN SEBENAR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Persediaan Fabric </a:t>
            </a:r>
            <a:r>
              <a:rPr sz="2700" b="1" i="0">
                <a:solidFill>
                  <a:srgbClr val="F2C811"/>
                </a:solidFill>
                <a:latin typeface="Arial"/>
              </a:rPr>
              <a:t>— skrin sebenar</a:t>
            </a:r>
          </a:p>
        </p:txBody>
      </p:sp>
      <p:pic>
        <p:nvPicPr>
          <p:cNvPr id="5" name="Picture 4" descr="01-workspace-kkdw-copil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5120640" cy="2855742"/>
          </a:xfrm>
          <a:prstGeom prst="rect">
            <a:avLst/>
          </a:prstGeom>
          <a:ln w="12700">
            <a:solidFill>
              <a:srgbClr val="3C4455"/>
            </a:solidFill>
          </a:ln>
          <a:effectLst/>
        </p:spPr>
      </p:pic>
      <p:pic>
        <p:nvPicPr>
          <p:cNvPr id="6" name="Picture 5" descr="09-three-queries-load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691640"/>
            <a:ext cx="5120640" cy="2857069"/>
          </a:xfrm>
          <a:prstGeom prst="rect">
            <a:avLst/>
          </a:prstGeom>
          <a:ln w="12700">
            <a:solidFill>
              <a:srgbClr val="3C4455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13232" y="48280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Workspace KKDW Copilot (kapasiti Fabric)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48280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Dataflow Gen2 KKDW_Ingest — JPD · BELB · MyProjek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33095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Aliran Data → Fabric dibina 100% dalam pelayar (tanpa Power BI Desktop) — data sebenar KKDW.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997756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LAMPIRAN · TANGKAPAN SKRIN SEBENAR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Jadual bersepadu &amp; </a:t>
            </a:r>
            <a:r>
              <a:rPr sz="2700" b="1" i="0">
                <a:solidFill>
                  <a:srgbClr val="F2C811"/>
                </a:solidFill>
                <a:latin typeface="Arial"/>
              </a:rPr>
              <a:t>model KKDW_Model</a:t>
            </a:r>
          </a:p>
        </p:txBody>
      </p:sp>
      <p:pic>
        <p:nvPicPr>
          <p:cNvPr id="5" name="Picture 4" descr="11-lakehouse-projek-pro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5120640" cy="2857069"/>
          </a:xfrm>
          <a:prstGeom prst="rect">
            <a:avLst/>
          </a:prstGeom>
          <a:ln w="12700">
            <a:solidFill>
              <a:srgbClr val="3C4455"/>
            </a:solidFill>
          </a:ln>
          <a:effectLst/>
        </p:spPr>
      </p:pic>
      <p:pic>
        <p:nvPicPr>
          <p:cNvPr id="6" name="Picture 5" descr="10-model-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691640"/>
            <a:ext cx="5120640" cy="2995360"/>
          </a:xfrm>
          <a:prstGeom prst="rect">
            <a:avLst/>
          </a:prstGeom>
          <a:ln w="12700">
            <a:solidFill>
              <a:srgbClr val="3C4455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13232" y="48280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Lakehouse: Projek_Program (JPD∪BELB, 1,399 baris)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48280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Model view: star schema (7 jadual + relationships)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33095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Model DirectLake KKDW_Model — 7 jadual, 4 relationships, 23 measures, semua diuji.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9AA4B2"/>
                </a:solidFill>
                <a:latin typeface="Arial"/>
              </a:rPr>
              <a:t>Hari 1 selesai — fondasi data siap. Jumpa esok untuk Power BI!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D84D"/>
                </a:solidFill>
                <a:latin typeface="Consolas"/>
              </a:rPr>
              <a:t>hari-1/README.md · hari-1/snippets/lab.md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