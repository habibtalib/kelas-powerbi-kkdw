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Pembukaan Hari 2. Semalam data; hari ini kita hidupkannya.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Pastikan semua peserta ada hari-1.pbix sebelum mula. Yang ketinggalan boleh guna fail rujukan.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Utamakan measure untuk KPI. Calculated column hanya bila perlu nilai per-baris — dan jika boleh, buat di Power Query/sumber supaya model kecil. 📘 Buku Bab 9: calc column vs measure ms 210, VAR untuk kekemasan &amp; prestasi.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Konsep paling penting DAX untuk pemula. Tunjuk measure sama pada card vs bar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Bina measure secara langsung. Tekankan DIVIDE &amp; CALCULATE. Sesuaikan nama medan ikut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Bukan setiap data sesuai setiap carta. Elak pie/donut bila kategori banyak.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Reka bentuk = kejelasan, bukan hiasan. Warna status mesti seragam sepanjang laporan.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Hierarki lokasi ialah cadangan rasmi KKDW. Drill-down dalam satu visual; drill-through antara halaman.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Category penting untuk peta ikut nama tempat. Koordinat JPD terus boleh dipeta.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Struktur sasaran projek. Slicer Negeri/Tahun/Program pada setiap halaman.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RLS (baris) + OLS (lajur/jadual) konsep ringkas sahaja hari ini; laksana penuh ikut dasar KKDW. Endorsement 'Certified' menandakan sumber rasmi. Untuk pasukan besar ada deployment pipelines (Dev→Test→Prod) &amp; Git — di luar skop kursus. 📘 Buku Bab 10 (OLS ms 240, RLS ms 243), Bab 11 (endorsement ms 250, pipelines ms 252).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Deliverable Hari 2 = dashboard 4 halaman diterbit. Lab penuh: hari-2/snippets/lab.md.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pencapaian + teaser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Kuiz recap interaktif. Jawapan penuh: 1) DAX = Data Analysis Expressions. 2) Measure dikira masa nyata ikut konteks (tak disimpan); calculated column disimpan baris demi baris. 3) Filter context = nilai measure berubah ikut konteks visual (cth per negeri). 4) COUNTROWS untuk kira bilangan baris. 5) CALCULATE untuk mengubah/menimpa filter context. 6) SWITCH untuk menggantikan IF berbilang cabang. 7) % Utilisasi = DIVIDE([Jumlah Belanja], [Jumlah Peruntukan]). 8) Guna DIVIDE bukan / untuk elak ralat bahagi-dengan-sifar. 9) Hierarki: Malaysia→Negeri→Parlimen→DUN→Kampung→Projek. 10) Drill-down turun hierarki dalam 1 visual; drill-through lompat ke halaman butiran. 11) Warna status: Hijau=Siap, Kuning=Risiko, Merah=Lewat. 12) Untuk peta ikut nama tempat, set Data Category (State/Province, City). Host dari Library Kahoot; plan percuma = 15 min / 20 pemain setiap sesi.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Penutup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D84D"/>
                </a:solidFill>
                <a:latin typeface="Arial"/>
              </a:rPr>
              <a:t>Power BI · Microsoft Fabric ·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Hari 2 —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EF1F6"/>
                </a:solidFill>
                <a:latin typeface="Arial"/>
              </a:rPr>
              <a:t>DAX · Visualisasi · </a:t>
            </a:r>
            <a:r>
              <a:rPr sz="2600" b="1" i="0">
                <a:solidFill>
                  <a:srgbClr val="F2C811"/>
                </a:solidFill>
                <a:latin typeface="Arial"/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AA4B2"/>
                </a:solidFill>
                <a:latin typeface="Arial"/>
              </a:rPr>
              <a:t>Menukar model data kepada dashboard pengurusan interaktif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709160"/>
            <a:ext cx="451713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DAX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7513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8137" y="4709160"/>
            <a:ext cx="720547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Visual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8684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9308" y="4709160"/>
            <a:ext cx="1078992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Drill-down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8300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98924" y="4709160"/>
            <a:ext cx="989380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4 Halaman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8305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8929" y="4709160"/>
            <a:ext cx="810158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Publish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76072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574243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Hari ini: 8 measure teras + 4 halaman dashboard, diterbit ke Power BI Service.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220163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SAMBUNGAN HARI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Kita ada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model data bersepadu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FFE9A8"/>
                </a:solidFill>
                <a:latin typeface="Consolas"/>
              </a:rPr>
              <a:t>hari-1.pbix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— JPD + BELB + MyProjek, bersih &amp; bermodel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0" i="0">
                <a:solidFill>
                  <a:srgbClr val="EEF1F6"/>
                </a:solidFill>
                <a:latin typeface="Arial"/>
              </a:rPr>
              <a:t>Star schema: Fakta_Projek + Dim_Negeri/Status/Tarikh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0" i="0">
                <a:solidFill>
                  <a:srgbClr val="EEF1F6"/>
                </a:solidFill>
                <a:latin typeface="Arial"/>
              </a:rPr>
              <a:t>Medan bertaip betul, status diseragamkan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023360"/>
            <a:ext cx="10820095" cy="109728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5196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2C811"/>
                </a:solidFill>
                <a:latin typeface="Arial"/>
              </a:rPr>
              <a:t>Hari ini: </a:t>
            </a:r>
            <a:r>
              <a:rPr sz="1550" b="0" i="0">
                <a:solidFill>
                  <a:srgbClr val="EEF1F6"/>
                </a:solidFill>
                <a:latin typeface="Arial"/>
              </a:rPr>
              <a:t>kira KPI (DAX) → bina visual → drill-down &amp; peta → 4 halaman → publish.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825142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6 · DAX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Apa itu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DAX</a:t>
            </a:r>
            <a:r>
              <a:rPr sz="38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Data Analysis Expressions</a:t>
            </a:r>
            <a:r>
              <a:rPr sz="1700" b="0" i="0">
                <a:solidFill>
                  <a:srgbClr val="EEF1F6"/>
                </a:solidFill>
                <a:latin typeface="Arial"/>
              </a:rPr>
              <a:t> — bahasa formula Power BI. Seperti formula Excel, tetapi bekerja atas </a:t>
            </a:r>
            <a:r>
              <a:rPr sz="1700" b="1" i="0">
                <a:solidFill>
                  <a:srgbClr val="FFD84D"/>
                </a:solidFill>
                <a:latin typeface="Arial"/>
              </a:rPr>
              <a:t>jadual &amp; relationships</a:t>
            </a:r>
            <a:r>
              <a:rPr sz="1700" b="0" i="0">
                <a:solidFill>
                  <a:srgbClr val="EEF1F6"/>
                </a:solidFill>
                <a:latin typeface="Arial"/>
              </a:rPr>
              <a:t>, bukan sel.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017520"/>
            <a:ext cx="5227167" cy="219456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246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EF1F6"/>
                </a:solidFill>
                <a:latin typeface="Arial"/>
              </a:rPr>
              <a:t>Calculated 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49039"/>
            <a:ext cx="467852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Dikira baris demi baris, disimpan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Guna memori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Contoh: kategori status per projek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3017520"/>
            <a:ext cx="5227167" cy="219456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3246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2C811"/>
                </a:solidFill>
                <a:latin typeface="Arial"/>
              </a:rPr>
              <a:t>Measure  ✓ utamakan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3749039"/>
            <a:ext cx="467852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Dikira masa nyata, ikut konteks visual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Tidak guna memori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Contoh: Jumlah Peruntukan, % Utilisasi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48640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546811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Prestasi: utamakan measure; jika perlu lajur baru, buat di Power Query (bukan calculated column). Guna VAR untuk measure kompleks (Hari 3).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911449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6 · FILTER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Satu measure,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banyak konteks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200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EEF1F6"/>
                </a:solidFill>
                <a:latin typeface="Arial"/>
              </a:rPr>
              <a:t>Nilai measure </a:t>
            </a:r>
            <a:r>
              <a:rPr sz="1700" b="1" i="0">
                <a:solidFill>
                  <a:srgbClr val="FFD84D"/>
                </a:solidFill>
                <a:latin typeface="Arial"/>
              </a:rPr>
              <a:t>berubah ikut konteks</a:t>
            </a:r>
            <a:r>
              <a:rPr sz="1700" b="0" i="0">
                <a:solidFill>
                  <a:srgbClr val="EEF1F6"/>
                </a:solidFill>
                <a:latin typeface="Arial"/>
              </a:rPr>
              <a:t> visual — inilah kuasa DAX.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5394960" cy="868680"/>
          </a:xfrm>
          <a:prstGeom prst="roundRect">
            <a:avLst/>
          </a:prstGeom>
          <a:solidFill>
            <a:srgbClr val="0F121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743200"/>
            <a:ext cx="54864" cy="86868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871216"/>
            <a:ext cx="4937760" cy="6309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FFE9A8"/>
                </a:solidFill>
                <a:latin typeface="Consolas"/>
              </a:rPr>
              <a:t>Jumlah Kos = SUM ( Fakta[kos_projek]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1082009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Pada satu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Card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→ jumlah keseluruhan semua projek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Dalam carta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"ikut negeri"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→ automatik dikira per negeri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Ditapis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slicer Tahun = 2024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→ hanya projek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48640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546811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Tulis measure sekali; Power BI kira semula ikut setiap visual, slicer &amp; drill. Tak perlu ulang formula.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318918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6 · KPI KKDW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C811"/>
                </a:solidFill>
                <a:latin typeface="Arial"/>
              </a:rPr>
              <a:t>8 measure </a:t>
            </a:r>
            <a:r>
              <a:rPr sz="3800" b="1" i="0">
                <a:solidFill>
                  <a:srgbClr val="FFFFFF"/>
                </a:solidFill>
                <a:latin typeface="Arial"/>
              </a:rPr>
              <a:t>teras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820095" cy="3108960"/>
          </a:xfrm>
          <a:prstGeom prst="roundRect">
            <a:avLst/>
          </a:prstGeom>
          <a:solidFill>
            <a:srgbClr val="0F121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54864" cy="310896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02536"/>
            <a:ext cx="10362895" cy="2871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Jumlah Projek     = COUNTROWS ( Projek_Program 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Jumlah Peruntukan = SUM ( MyProjek[peruntukan_disemak_janm] 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Jumlah Belanja    = SUM ( MyProjek[belanja_janm] 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Baki              = [Jumlah Peruntukan] - [Jumlah Belanja]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% Utilisasi       = DIVIDE ( [Jumlah Belanja], [Jumlah Peruntukan] 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Projek Siap       = CALCULATE ( [Jumlah Projek],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                       Projek_Program[kategori_status] = "Siap" 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21208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19379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Guna DIVIDE(a,b) bukan a/b — ia elak ralat bahagi-dengan-sifar. Letak semua dalam jadual _Measures.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615184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7 · VISUALISASI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Pilih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visual yang betul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72662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Arial"/>
              </a:rPr>
              <a:t>Nak tunjuk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3464" y="1965960"/>
            <a:ext cx="337099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Arial"/>
              </a:rPr>
              <a:t>Visual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76856"/>
            <a:ext cx="10820095" cy="18288"/>
          </a:xfrm>
          <a:prstGeom prst="rect">
            <a:avLst/>
          </a:prstGeom>
          <a:solidFill>
            <a:srgbClr val="3C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13432"/>
            <a:ext cx="72662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Satu nombor penting (jumlah projek, peruntukan)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3464" y="2313432"/>
            <a:ext cx="337099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Card / KPI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25496"/>
            <a:ext cx="72662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Perbandingan antara kategori (projek ikut negeri)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3464" y="2825496"/>
            <a:ext cx="337099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Bar / Column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37560"/>
            <a:ext cx="72662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Trend ikut masa (belanja ikut tahun)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3464" y="3337560"/>
            <a:ext cx="337099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49624"/>
            <a:ext cx="72662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Nilai berperingkat + drill (negeri → daerah)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3464" y="3849624"/>
            <a:ext cx="337099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61688"/>
            <a:ext cx="72662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Bahagian daripada keseluruhan (status)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3464" y="4361688"/>
            <a:ext cx="337099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Donut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73752"/>
            <a:ext cx="72662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Lokasi geografi projek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3464" y="4873752"/>
            <a:ext cx="337099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615184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7 · REKA BENTUK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Prinsip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dashboard pengurusan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250027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194560"/>
            <a:ext cx="4847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78608"/>
            <a:ext cx="4847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Fokus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962656"/>
            <a:ext cx="4847691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Nombor paling penting di atas-kiri (mata mula baca di situ)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2011680"/>
            <a:ext cx="5250027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7035" y="2194560"/>
            <a:ext cx="4847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7035" y="2578608"/>
            <a:ext cx="4847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Kurangkan bunyi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7035" y="2962656"/>
            <a:ext cx="4847691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Buang grid berlebihan, warna melampau, 3D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5250027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749040"/>
            <a:ext cx="4847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33088"/>
            <a:ext cx="4847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Konsisten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517136"/>
            <a:ext cx="4847691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Satu palet · warna status seragam (Hijau/Kuning/Merah)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5867" y="3566160"/>
            <a:ext cx="5250027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3749040"/>
            <a:ext cx="4847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🏷️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7035" y="4133088"/>
            <a:ext cx="4847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Konteks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035" y="4517136"/>
            <a:ext cx="4847691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Setiap visual ada tajuk &amp; unit (RM, %, km)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39496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37667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Conditional Formatting: warnakan nilai automatik ikut syarat — asas indikator risiko Hari 3.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812694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8 · INTERAKTIVITI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C811"/>
                </a:solidFill>
                <a:latin typeface="Arial"/>
              </a:rPr>
              <a:t>Drill-down </a:t>
            </a:r>
            <a:r>
              <a:rPr sz="3800" b="1" i="0">
                <a:solidFill>
                  <a:srgbClr val="FFFFFF"/>
                </a:solidFill>
                <a:latin typeface="Arial"/>
              </a:rPr>
              <a:t>hierarki KKDW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0820095" cy="77724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Malaysia → Negeri → Parlimen → DUN → Kampung → Projek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08960"/>
            <a:ext cx="108200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Slicer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— penapis Negeri / Tahun / Program di atas halaman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Cross-filter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— klik satu bar → semua visual lain ditapis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Drill-down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— turun peringkat dalam satu visual (Negeri → Daerah)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Drill-through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— klik kanan projek → lompat ke halaman butiran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923897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8 · PETA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Lokasi projek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pada peta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JPD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ada koordinat </a:t>
            </a:r>
            <a:r>
              <a:rPr sz="1500" b="0" i="0">
                <a:solidFill>
                  <a:srgbClr val="FFE9A8"/>
                </a:solidFill>
                <a:latin typeface="Consolas"/>
              </a:rPr>
              <a:t>lat_1, long_1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→ Map (titik lokasi jalan)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BELB / MyProjek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→ Filled Map ikut Negeri / Daerah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Saiz titik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= kos projek → nampak projek besar sekilas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023360"/>
            <a:ext cx="10820095" cy="109728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06240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2C811"/>
                </a:solidFill>
                <a:latin typeface="Arial"/>
              </a:rPr>
              <a:t>Tip: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set Data Category medan lokasi (Modeling → Data Category → State/Province, City) supaya Power BI kenal tempat dengan tepat.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417673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9 ·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C811"/>
                </a:solidFill>
                <a:latin typeface="Arial"/>
              </a:rPr>
              <a:t>Empat halaman </a:t>
            </a:r>
            <a:r>
              <a:rPr sz="3800" b="1" i="0">
                <a:solidFill>
                  <a:srgbClr val="FFFFFF"/>
                </a:solidFill>
                <a:latin typeface="Arial"/>
              </a:rPr>
              <a:t>bersepadu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12264"/>
            <a:ext cx="457200" cy="457200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965960"/>
            <a:ext cx="10180015" cy="74980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084831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Executive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2112264"/>
            <a:ext cx="5973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Jumlah projek, peruntukan, status, kemajuan, projek berisiko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80944"/>
            <a:ext cx="457200" cy="457200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2834639"/>
            <a:ext cx="10180015" cy="74980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953511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JPD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980944"/>
            <a:ext cx="5973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Projek &amp; kos ikut negeri, panjang jalan, kos/km, peta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49624"/>
            <a:ext cx="457200" cy="457200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3703320"/>
            <a:ext cx="10180015" cy="74980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822191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BELB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849624"/>
            <a:ext cx="5973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Kampung terlibat, sambungan siap vs sasaran, kos/sambungan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18304"/>
            <a:ext cx="457200" cy="457200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4572000"/>
            <a:ext cx="10180015" cy="74980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69087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Financial &amp; Physical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718304"/>
            <a:ext cx="5973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Peruntukan vs belanja vs baki, % utilisasi, ketidakpadanan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34924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33095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Halaman ke-5 (AI Project Risk &amp; Early Warning) dibina esok, Hari 3. Simpan hari-2.pbix.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318918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10 · PUBLISH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Terbit &amp;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kongsi selamat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200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F2C811"/>
                </a:solidFill>
                <a:latin typeface="Arial"/>
              </a:rPr>
              <a:t>•  </a:t>
            </a:r>
            <a:r>
              <a:rPr sz="1400" b="1" i="0">
                <a:solidFill>
                  <a:srgbClr val="EEF1F6"/>
                </a:solidFill>
                <a:latin typeface="Arial"/>
              </a:rPr>
              <a:t>Publish</a:t>
            </a:r>
            <a:r>
              <a:rPr sz="1400" b="0" i="0">
                <a:solidFill>
                  <a:srgbClr val="EEF1F6"/>
                </a:solidFill>
                <a:latin typeface="Arial"/>
              </a:rPr>
              <a:t> → pilih Workspace KKDW → laporan naik ke Power BI Service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F2C811"/>
                </a:solidFill>
                <a:latin typeface="Arial"/>
              </a:rPr>
              <a:t>•  </a:t>
            </a:r>
            <a:r>
              <a:rPr sz="1400" b="1" i="0">
                <a:solidFill>
                  <a:srgbClr val="EEF1F6"/>
                </a:solidFill>
                <a:latin typeface="Arial"/>
              </a:rPr>
              <a:t>Report vs Dashboard vs App</a:t>
            </a:r>
            <a:r>
              <a:rPr sz="1400" b="0" i="0">
                <a:solidFill>
                  <a:srgbClr val="EEF1F6"/>
                </a:solidFill>
                <a:latin typeface="Arial"/>
              </a:rPr>
              <a:t> — laporan penuh, papan pin, pakej dikongsi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F2C811"/>
                </a:solidFill>
                <a:latin typeface="Arial"/>
              </a:rPr>
              <a:t>•  </a:t>
            </a:r>
            <a:r>
              <a:rPr sz="1400" b="1" i="0">
                <a:solidFill>
                  <a:srgbClr val="EEF1F6"/>
                </a:solidFill>
                <a:latin typeface="Arial"/>
              </a:rPr>
              <a:t>Scheduled refresh</a:t>
            </a:r>
            <a:r>
              <a:rPr sz="1400" b="0" i="0">
                <a:solidFill>
                  <a:srgbClr val="EEF1F6"/>
                </a:solidFill>
                <a:latin typeface="Arial"/>
              </a:rPr>
              <a:t> — dashboard sentiasa terkini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F2C811"/>
                </a:solidFill>
                <a:latin typeface="Arial"/>
              </a:rPr>
              <a:t>•  </a:t>
            </a:r>
            <a:r>
              <a:rPr sz="1400" b="1" i="0">
                <a:solidFill>
                  <a:srgbClr val="EEF1F6"/>
                </a:solidFill>
                <a:latin typeface="Arial"/>
              </a:rPr>
              <a:t>RLS + OLS</a:t>
            </a:r>
            <a:r>
              <a:rPr sz="1400" b="0" i="0">
                <a:solidFill>
                  <a:srgbClr val="EEF1F6"/>
                </a:solidFill>
                <a:latin typeface="Arial"/>
              </a:rPr>
              <a:t> — sekat baris (Sabah → projek Sabah) &amp; lajur sensitif (kos)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F2C811"/>
                </a:solidFill>
                <a:latin typeface="Arial"/>
              </a:rPr>
              <a:t>•  </a:t>
            </a:r>
            <a:r>
              <a:rPr sz="1400" b="1" i="0">
                <a:solidFill>
                  <a:srgbClr val="EEF1F6"/>
                </a:solidFill>
                <a:latin typeface="Arial"/>
              </a:rPr>
              <a:t>Endorsement</a:t>
            </a:r>
            <a:r>
              <a:rPr sz="1400" b="0" i="0">
                <a:solidFill>
                  <a:srgbClr val="EEF1F6"/>
                </a:solidFill>
                <a:latin typeface="Arial"/>
              </a:rPr>
              <a:t> — model rasmi ditanda </a:t>
            </a:r>
            <a:r>
              <a:rPr sz="1400" b="1" i="0">
                <a:solidFill>
                  <a:srgbClr val="3DDC97"/>
                </a:solidFill>
                <a:latin typeface="Arial"/>
              </a:rPr>
              <a:t>Certified</a:t>
            </a:r>
            <a:r>
              <a:rPr sz="1400" b="0" i="0">
                <a:solidFill>
                  <a:srgbClr val="EEF1F6"/>
                </a:solidFill>
                <a:latin typeface="Arial"/>
              </a:rPr>
              <a:t> supaya pegawai kenal sumber sebenar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251960"/>
            <a:ext cx="10820095" cy="96012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5C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43484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5C56B"/>
                </a:solidFill>
                <a:latin typeface="Arial"/>
              </a:rPr>
              <a:t>Keselamatan data KKDW: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kongsi hanya kepada pengguna dibenarkan · RLS/OLS untuk data sensitif · sahkan residensi data dengan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627632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LAB HARI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Checklist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sebelum balik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82009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F2C811"/>
                </a:solidFill>
                <a:latin typeface="Arial"/>
              </a:rPr>
              <a:t>☐  </a:t>
            </a:r>
            <a:r>
              <a:rPr sz="1650" b="0" i="0">
                <a:solidFill>
                  <a:srgbClr val="EEF1F6"/>
                </a:solidFill>
                <a:latin typeface="Arial"/>
              </a:rPr>
              <a:t>8 measure teras siap &amp; betul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F2C811"/>
                </a:solidFill>
                <a:latin typeface="Arial"/>
              </a:rPr>
              <a:t>☐  </a:t>
            </a:r>
            <a:r>
              <a:rPr sz="1650" b="0" i="0">
                <a:solidFill>
                  <a:srgbClr val="EEF1F6"/>
                </a:solidFill>
                <a:latin typeface="Arial"/>
              </a:rPr>
              <a:t>4 halaman dashboard lengkap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F2C811"/>
                </a:solidFill>
                <a:latin typeface="Arial"/>
              </a:rPr>
              <a:t>☐  </a:t>
            </a:r>
            <a:r>
              <a:rPr sz="1650" b="0" i="0">
                <a:solidFill>
                  <a:srgbClr val="EEF1F6"/>
                </a:solidFill>
                <a:latin typeface="Arial"/>
              </a:rPr>
              <a:t>Drill-down (Negeri → Daerah → Kampung) &amp; peta berfungsi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F2C811"/>
                </a:solidFill>
                <a:latin typeface="Arial"/>
              </a:rPr>
              <a:t>☐  </a:t>
            </a:r>
            <a:r>
              <a:rPr sz="1650" b="0" i="0">
                <a:solidFill>
                  <a:srgbClr val="EEF1F6"/>
                </a:solidFill>
                <a:latin typeface="Arial"/>
              </a:rPr>
              <a:t>Slicer Negeri/Tahun/Program merentas visual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F2C811"/>
                </a:solidFill>
                <a:latin typeface="Arial"/>
              </a:rPr>
              <a:t>☐  </a:t>
            </a:r>
            <a:r>
              <a:rPr sz="1650" b="0" i="0">
                <a:solidFill>
                  <a:srgbClr val="EEF1F6"/>
                </a:solidFill>
                <a:latin typeface="Arial"/>
              </a:rPr>
              <a:t>Laporan diterbit ke Service · disimpan </a:t>
            </a:r>
            <a:r>
              <a:rPr sz="1650" b="1" i="0">
                <a:solidFill>
                  <a:srgbClr val="FFE9A8"/>
                </a:solidFill>
                <a:latin typeface="Consolas"/>
              </a:rPr>
              <a:t>hari-2.pbix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220163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RINGKASAN HARI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Dashboard anda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berfungsi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Kuasai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DAX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— measure, CALCULATE, filter context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Bina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visual berkesan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+ conditional formatting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Interaktiviti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drill-down, drill-through &amp; peta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Terbit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4 halaman dashboard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ke Power BI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14800"/>
            <a:ext cx="3393338" cy="169164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429768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68172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Esok · Hari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5065776"/>
            <a:ext cx="299100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4B2"/>
                </a:solidFill>
                <a:latin typeface="Arial"/>
              </a:rPr>
              <a:t>Analitik risiko + Copilot/AI + capstone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4114800"/>
            <a:ext cx="3393338" cy="169164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0346" y="429768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346" y="468172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Early Warning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0346" y="5065776"/>
            <a:ext cx="299100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4B2"/>
                </a:solidFill>
                <a:latin typeface="Arial"/>
              </a:rPr>
              <a:t>Varians jadual vs sebenar · Hijau/Kuning/Merah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2556" y="4114800"/>
            <a:ext cx="3393338" cy="169164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724" y="429768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3724" y="468172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3724" y="5065776"/>
            <a:ext cx="299100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4B2"/>
                </a:solidFill>
                <a:latin typeface="Arial"/>
              </a:rPr>
              <a:t>Tanya data bahasa biasa, ringkasan eksekutif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94360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92531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Esok kita tambah kecerdasan — kesan risiko &amp; keutamaan. AI membantu, anda memandu.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516428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KUIZ RECAP · KAHOOT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Kuiz recap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Hari 2</a:t>
            </a:r>
            <a:r>
              <a:rPr sz="3800" b="1" i="0">
                <a:solidFill>
                  <a:srgbClr val="FFFFFF"/>
                </a:solidFill>
                <a:latin typeface="Arial"/>
              </a:rPr>
              <a:t> — Kahoot (12 soalan)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10512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Arial"/>
              </a:rPr>
              <a:t>Main sebagai kumpulan untuk semak kefahaman — jawapan betul ditebalkan.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23160"/>
            <a:ext cx="5227167" cy="29718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87752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C811"/>
                </a:solidFill>
                <a:latin typeface="Arial"/>
              </a:rPr>
              <a:t>DAX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4678527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DAX =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Data Analysis Expressions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Measure vs column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measure ikut konteks, tak disimpan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Filter context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nilai berubah ikut visual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Kira bilangan baris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COUNTROWS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Ubah filter context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CALCULATE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Multi-syarat (ganti IF)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SWITCH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% Utilisasi / elak ÷0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DIVIDE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423160"/>
            <a:ext cx="5227167" cy="29718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587752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C811"/>
                </a:solidFill>
                <a:latin typeface="Arial"/>
              </a:rPr>
              <a:t>Visualisasi &amp;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3108960"/>
            <a:ext cx="4678527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Hierarki drill-down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Malaysia→Negeri→…→Projek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Drill-down vs drill-through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1 visual vs halaman butiran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Warna status seragam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Hijau/Kuning/Merah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Peta ikut nama tempat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set Data Category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57784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555955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Kahoot: “Kuiz Hari 2 KKDW — DAX &amp; Visualisasi” (12 soalan) — host dari Library Kahoot. Bermain ~10 min.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6616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9AA4B2"/>
                </a:solidFill>
                <a:latin typeface="Arial"/>
              </a:rPr>
              <a:t>Hari 2 selesai — dashboard hidup. Esok: analitik &amp; AI!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D84D"/>
                </a:solidFill>
                <a:latin typeface="Consolas"/>
              </a:rPr>
              <a:t>hari-2/README.md · hari-2/snippets/lab.md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