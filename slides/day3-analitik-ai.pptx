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Pembukaan Hari 3. Naik taraf dashboard kepada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Kaitkan dengan capstone: projek/kawasan mana perlu keutamaan, dan mengapa.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 medan MyProjek ialah asas seluruh analitik risiko. Varians negatif = lewat.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SWITCH(TRUE()) ialah corak DAX untuk julat berperingkat. Guna Conditional Formatting untuk warnakan matriks.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Contoh klasik: 80% belanja, 50% siap → tanda merah. Scatter plot paling jelas tunjuk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Score gabung faktor jadi satu nombor boleh disusun. Priority Index tambah keperluan (penerima manfaat).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Penting: peserta tanpa lesen Copilot masih boleh dapat insight AI melalui visual terbina ini. Analyze &amp; Quick Insights = penerangan/corak automatik; clustering kumpul projek serupa untuk segmen keutamaan. 📘 Buku Bab 12 (Quick Insights ms 272, Analyze ms 273, Decomposition Tree ms 275), Bab 14 (clustering ms 323).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Copilot mempercepat tetapi perlu lesen. Q&amp;A visual ialah alternatif percuma yang serupa. Pengguna biasa guna Copilot untuk tanya/ringkas; pengguna teknikal untuk auto-jana laporan &amp; tulis DAX. 📘 Buku Bab 12: Copilot pengguna biasa ms 278, teknikal ms 282.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Pertanyaan diambil terus dari cadangan use-case KKDW. Sentiasa sahkan jawapan.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tadbir urus &amp; residensi data untuk KKDW. AI sebagai pembantu, bukan pembuat keputusan.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Capstone mengaplikasikan keseluruhan proses. Bukti mesti pada skrin (varians, ketidakpadanan, penerima manfaat).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Lima kriteria seimbang. Pembentangan 5 minit setiap kumpulan.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dengan pencapaian penuh 3 hari. Langkah seterusnya: sumber data sebenar, RLS, kembangkan Priority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Tangkapan skrin sebenar: Copilot dalam Power BI menjana laporan Executive dari arahan bahasa biasa (SESI 14). Copilot aktif dalam tenant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Rujukan sahaja (nota/09-alternatif-open-source.md) — kursus kekal pada Fabric + Power BI + Copilot. Alasan pertimbang alternatif: tiada lesen per-pengguna, data kekal on-prem (kedaulatan), tiada throttling kapasiti, kos perisian percuma. ClickHouse = pangkalan data OLAP columnar (peranan Warehouse/Direct Lake). Superset = paling hampir Power BI Service. n8n = automasi/orkestrasi (ganti Power Automate + Data Alerts) + AI Agent (sebahagian Copilot). Batasan: urus infra sendiri, tiada Copilot setara siap-pakai, perlu kemahiran SQL/DevOps. Rumusan: Fabric + Power BI kekal disyorkan untuk kursus &amp; majoriti kes KKDW; pertimbang ClickHouse + Superset hanya bila on-prem/lesen/kawalan infra jadi keutamaan.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Penutup kursus + penyampaian sijil.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Arial"/>
              </a:rPr>
              <a:t>Power BI · Microsoft Fabric ·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Hari 3 — Analitik &amp;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EF1F6"/>
                </a:solidFill>
                <a:latin typeface="Arial"/>
              </a:rPr>
              <a:t>Risiko · </a:t>
            </a:r>
            <a:r>
              <a:rPr sz="2600" b="1" i="0">
                <a:solidFill>
                  <a:srgbClr val="F2C811"/>
                </a:solidFill>
                <a:latin typeface="Arial"/>
              </a:rPr>
              <a:t>Copilot / AI</a:t>
            </a:r>
            <a:r>
              <a:rPr sz="2600" b="1" i="0">
                <a:solidFill>
                  <a:srgbClr val="EEF1F6"/>
                </a:solidFill>
                <a:latin typeface="Arial"/>
              </a:rPr>
              <a:t> ·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AA4B2"/>
                </a:solidFill>
                <a:latin typeface="Arial"/>
              </a:rPr>
              <a:t>Menukar data kepada insight yang menyokong keputusan pengurusan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09160"/>
            <a:ext cx="720547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Risiko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6347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6971" y="4709160"/>
            <a:ext cx="1078992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Risk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5963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6587" y="4709160"/>
            <a:ext cx="989380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Visual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6592" y="4709160"/>
            <a:ext cx="810158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6750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7374" y="4709160"/>
            <a:ext cx="899769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Capstone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76072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574243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Hari ini: kesan projek lewat &amp; keutamaan, guna Copilot untuk insight, lengkapkan capstone.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41767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SAMBUNGAN HARI 1-2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Kita ada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dashboard berfungsi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FFE9A8"/>
                </a:solidFill>
                <a:latin typeface="Consolas"/>
              </a:rPr>
              <a:t>hari-2.pbix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model bersepadu + 4 halaman + measures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Diterbit ke Power BI Service, interaktif dengan drill-down &amp; peta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10820095" cy="137160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886200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C811"/>
                </a:solidFill>
                <a:latin typeface="Arial"/>
              </a:rPr>
              <a:t>Hari ini: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bina measure risiko → halaman AI Risk &amp; Early Warning → visual AI terbina → Copilot → capstone yang menjawab soalan pengurusan utama.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911449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11 · EARLY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Kesan projek lewat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lebih awal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FFE9A8"/>
                </a:solidFill>
                <a:latin typeface="Consolas"/>
              </a:rPr>
              <a:t>peratus_jadual_projek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sepatutnya sudah siap sebanyak ini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FFE9A8"/>
                </a:solidFill>
                <a:latin typeface="Consolas"/>
              </a:rPr>
              <a:t>peratus_sebenar_projek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kemajuan fizikal betul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00400"/>
            <a:ext cx="10820095" cy="91440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200400"/>
            <a:ext cx="54864" cy="9144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328416"/>
            <a:ext cx="10362895" cy="6766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E9A8"/>
                </a:solidFill>
                <a:latin typeface="Consolas"/>
              </a:rPr>
              <a:t>Varians = % Sebenar − % Jadual     (negatif = lewat)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434840"/>
            <a:ext cx="10820095" cy="82296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63440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Bila </a:t>
            </a:r>
            <a:r>
              <a:rPr sz="1500" b="1" i="0">
                <a:solidFill>
                  <a:srgbClr val="E85D5D"/>
                </a:solidFill>
                <a:latin typeface="Arial"/>
              </a:rPr>
              <a:t>sebenar &lt; jadual</a:t>
            </a:r>
            <a:r>
              <a:rPr sz="1500" b="0" i="0">
                <a:solidFill>
                  <a:srgbClr val="EEF1F6"/>
                </a:solidFill>
                <a:latin typeface="Arial"/>
              </a:rPr>
              <a:t>, projek ketinggalan. Ukuran itu = varians.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207715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11 · INDIKATOR RISIKO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Hijau · Kuning · </a:t>
            </a:r>
            <a:r>
              <a:rPr sz="3800" b="1" i="0">
                <a:solidFill>
                  <a:srgbClr val="E85D5D"/>
                </a:solidFill>
                <a:latin typeface="Arial"/>
              </a:rPr>
              <a:t>Merah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423818" cy="1463040"/>
          </a:xfrm>
          <a:prstGeom prst="roundRect">
            <a:avLst/>
          </a:prstGeom>
          <a:solidFill>
            <a:srgbClr val="262B38"/>
          </a:solidFill>
          <a:ln w="1905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3423818" cy="10972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🟢 Hijau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DDC97"/>
                </a:solidFill>
                <a:latin typeface="Consolas"/>
              </a:rPr>
              <a:t>0 hingga −5%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Normal / atas jadual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920240"/>
            <a:ext cx="3423818" cy="1463040"/>
          </a:xfrm>
          <a:prstGeom prst="roundRect">
            <a:avLst/>
          </a:prstGeom>
          <a:solidFill>
            <a:srgbClr val="262B38"/>
          </a:solidFill>
          <a:ln w="19050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1920240"/>
            <a:ext cx="3423818" cy="109728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214884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🟡 Kuning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60604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C811"/>
                </a:solidFill>
                <a:latin typeface="Consolas"/>
              </a:rPr>
              <a:t>−5% hingga −10%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297180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Perlu perhatian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2076" y="1920240"/>
            <a:ext cx="3423818" cy="1463040"/>
          </a:xfrm>
          <a:prstGeom prst="roundRect">
            <a:avLst/>
          </a:prstGeom>
          <a:solidFill>
            <a:srgbClr val="262B38"/>
          </a:solidFill>
          <a:ln w="19050">
            <a:solidFill>
              <a:srgbClr val="E8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2076" y="1920240"/>
            <a:ext cx="342381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4956" y="214884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🔴 Merah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4956" y="260604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5D5D"/>
                </a:solidFill>
                <a:latin typeface="Consolas"/>
              </a:rPr>
              <a:t>melebihi −10%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956" y="297180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Berisiko / lewat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11880"/>
            <a:ext cx="10820095" cy="160020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11880"/>
            <a:ext cx="54864" cy="16002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739896"/>
            <a:ext cx="10362895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Status Risiko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SWITCH ( TRUE (),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   [Varians Kemajuan] &gt;= -5, "Hijau",   -- skala 0-100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   [Varians Kemajuan] &gt;= -10, "Kuning",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   "Merah" 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503980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12 · FIZIKAL VS KEWANGAN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Kesan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ketidakpadanan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393338" cy="210312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945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⚖️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786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62656"/>
            <a:ext cx="2991002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Fizikal &amp; kewangan bergerak seimbang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011680"/>
            <a:ext cx="3393338" cy="210312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0346" y="21945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346" y="25786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Risiko kewangan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346" y="2962656"/>
            <a:ext cx="2991002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Belanja 80% tetapi fizikal 50% → perlu semakan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2556" y="2011680"/>
            <a:ext cx="3393338" cy="210312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1945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25786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Under-utilisation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3724" y="2962656"/>
            <a:ext cx="2991002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Fizikal baik tetapi belanja masih rendah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4632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82803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Scatter: % Utilisasi (x) vs % Sebenar (y) — titik jauh dari pepenjuru = ketidakpadanan yang perlu disemak.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800246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12 · RISK SCORE &amp; KECEKAPAN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Susun projek ikut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skor risiko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820095" cy="160020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54864" cy="16002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02536"/>
            <a:ext cx="10362895" cy="1362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Risk Score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VAR VarLewat   = SWITCH ( TRUE (), [Varians] &lt; -10, 2, [Varians] &lt; -5, 1, 0 )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VAR VarBelanja = IF ( [% Utilisasi] * 100 &gt; [% Sebenar] + 20, 2, 0 )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RETURN VarLewat + VarBelanja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57600"/>
            <a:ext cx="5227167" cy="105156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657600"/>
            <a:ext cx="54864" cy="105156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785615"/>
            <a:ext cx="4769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Consolas"/>
              </a:rPr>
              <a:t>JPD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096511"/>
            <a:ext cx="47699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E9A8"/>
                </a:solidFill>
                <a:latin typeface="Consolas"/>
              </a:rPr>
              <a:t>Kos per KM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E9A8"/>
                </a:solidFill>
                <a:latin typeface="Consolas"/>
              </a:rPr>
              <a:t>DIVIDE ( SUM(JPD[kos_projek]),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E9A8"/>
                </a:solidFill>
                <a:latin typeface="Consolas"/>
              </a:rPr>
              <a:t>         SUM(JPD[panjang_jalan])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3657600"/>
            <a:ext cx="5227167" cy="105156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3657600"/>
            <a:ext cx="54864" cy="105156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3785615"/>
            <a:ext cx="4769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Consolas"/>
              </a:rPr>
              <a:t>BELB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4096511"/>
            <a:ext cx="47699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E9A8"/>
                </a:solidFill>
                <a:latin typeface="Consolas"/>
              </a:rPr>
              <a:t>Kos per Sambungan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E9A8"/>
                </a:solidFill>
                <a:latin typeface="Consolas"/>
              </a:rPr>
              <a:t>DIVIDE ( SUM(BELB[kos_projek]),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E9A8"/>
                </a:solidFill>
                <a:latin typeface="Consolas"/>
              </a:rPr>
              <a:t>         SUM(BELB[jumlah_projek_peserta]) 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0292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50109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Benchmark ~RM9-11 juta/km hanya indikatif — ambil kira geografi, skop &amp; keadaan tapak sebelum simpul.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306470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13 · VISUAL AI TERBINA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Analitik AI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tanpa lesen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423818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4884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32888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Key Influencers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16936"/>
            <a:ext cx="3021482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Apa paling pengaruhi status "Merah"?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965960"/>
            <a:ext cx="3423818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5106" y="214884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5106" y="2532888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Decomposition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106" y="2916936"/>
            <a:ext cx="3021482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Pecah belanja: negeri → daerah →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2076" y="1965960"/>
            <a:ext cx="3423818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3244" y="214884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3244" y="2532888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Smart Narrative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3244" y="2916936"/>
            <a:ext cx="3021482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Ringkasan teks automatik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20439"/>
            <a:ext cx="3423818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70332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087368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Anomaly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471416"/>
            <a:ext cx="3021482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Kesan lonjakan belanja luar norma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3938" y="3520439"/>
            <a:ext cx="3423818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5106" y="370332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5106" y="4087368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5106" y="4471416"/>
            <a:ext cx="3021482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"Explain increase/decrease" — kenapa berubah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2076" y="3520439"/>
            <a:ext cx="3423818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370332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3244" y="4087368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Quick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3244" y="4471416"/>
            <a:ext cx="3021482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AI imbas model, cari corak automatik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16636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514807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Semua percuma &amp; terbina (tiada F64) — tidak berbual bahasa biasa. Tambahan: "Automatically find clusters" kumpul projek serupa. Copilot (SESI 14) ialah lapisan sembang di atasnya.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31891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14 ·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Copilot —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pegawai analisis maya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Tanya data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bahasa biasa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(NL Q&amp;A) — tanpa tulis DAX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Jana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halaman laporan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automatik daripada arahan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Ringkas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naratif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&amp; terangkan insight visual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Cadang / tulis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measure DAX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daripada bahasa biasa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60520"/>
            <a:ext cx="10820095" cy="91440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5C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361688"/>
            <a:ext cx="10271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5C56B"/>
                </a:solidFill>
                <a:latin typeface="Arial"/>
              </a:rPr>
              <a:t>Lesen: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Copilot perlukan Fabric F64+ / Premium. Sahkan dengan IT KKDW. Jika tiada — guna Q&amp;A visual (percuma).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30352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28523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Dua peranan: pengguna biasa (tanya &amp; ringkas) vs teknikal (auto-jana laporan, tulis DAX). Copilot menghormati RLS/OLS — jawapan terhad kepada data yang dibenarkan.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306470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14 · CONTOH PERTANYAAN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Tanya gaya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pengurusan KKDW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20095" cy="548640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EEF1F6"/>
                </a:solidFill>
                <a:latin typeface="Arial"/>
              </a:rPr>
              <a:t>"Senaraikan 10 projek JPD dengan jurang terbesar antara jadual dan sebenar."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24328"/>
            <a:ext cx="10820095" cy="548640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EEF1F6"/>
                </a:solidFill>
                <a:latin typeface="Arial"/>
              </a:rPr>
              <a:t>"Negeri mana perbelanjaan BELB tertinggi tetapi kemajuan paling rendah?"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82696"/>
            <a:ext cx="10820095" cy="548640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01568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EEF1F6"/>
                </a:solidFill>
                <a:latin typeface="Arial"/>
              </a:rPr>
              <a:t>"Ringkaskan prestasi projek BELB untuk Sabah."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41064"/>
            <a:ext cx="10820095" cy="548640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59936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EEF1F6"/>
                </a:solidFill>
                <a:latin typeface="Arial"/>
              </a:rPr>
              <a:t>"Apakah tiga isu utama portfolio JPD pada tempoh semasa?"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99431"/>
            <a:ext cx="10820095" cy="548640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18303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EEF1F6"/>
                </a:solidFill>
                <a:latin typeface="Arial"/>
              </a:rPr>
              <a:t>"Cari projek kemajuan fizikal &lt; 50% tetapi guna &gt; 70% peruntukan."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44068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542239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Untuk setiap jawapan — semak terhadap data sumber. AI membantu, anda memandu.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615184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14 · BATASAN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AI membantu,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anda memandu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0820095" cy="1280160"/>
          </a:xfrm>
          <a:prstGeom prst="roundRect">
            <a:avLst/>
          </a:prstGeom>
          <a:solidFill>
            <a:srgbClr val="332C16"/>
          </a:solidFill>
          <a:ln w="19050">
            <a:solidFill>
              <a:srgbClr val="F5C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EF1F6"/>
                </a:solidFill>
                <a:latin typeface="Arial"/>
              </a:rPr>
              <a:t>Copilot boleh salah atau terlepas konteks. </a:t>
            </a:r>
            <a:r>
              <a:rPr sz="1600" b="1" i="0">
                <a:solidFill>
                  <a:srgbClr val="F5C56B"/>
                </a:solidFill>
                <a:latin typeface="Arial"/>
              </a:rPr>
              <a:t>Sentiasa semak</a:t>
            </a:r>
            <a:r>
              <a:rPr sz="1600" b="0" i="0">
                <a:solidFill>
                  <a:srgbClr val="EEF1F6"/>
                </a:solidFill>
                <a:latin typeface="Arial"/>
              </a:rPr>
              <a:t> insight terhadap data sumber sebelum dibawa ke keputusan pengurusan.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57600"/>
            <a:ext cx="1082009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Jangan kongsi data sensitif ke perkhidmatan AI luar kawalan tanpa kelulusan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Sahkan angka penting secara manual (matriks / measure)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Gunakan AI untuk mempercepat, bukan menggantikan pertimbangan pegawai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430121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Soalan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pengurusan utama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20095" cy="1371600"/>
          </a:xfrm>
          <a:prstGeom prst="roundRect">
            <a:avLst/>
          </a:prstGeom>
          <a:solidFill>
            <a:srgbClr val="332C16"/>
          </a:solidFill>
          <a:ln w="19050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1800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1">
                <a:solidFill>
                  <a:srgbClr val="FFFFFF"/>
                </a:solidFill>
                <a:latin typeface="Arial"/>
              </a:rPr>
              <a:t>"Daripada keseluruhan portfolio JPD dan BELB, projek dan kawasan manakah yang perlu diberi keutamaan oleh pengurusan KKDW, dan mengapa?"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D84D"/>
                </a:solidFill>
                <a:latin typeface="Consolas"/>
              </a:rPr>
              <a:t>Deliverable: capstone.pbix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23360"/>
            <a:ext cx="108200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0" i="0">
                <a:solidFill>
                  <a:srgbClr val="EEF1F6"/>
                </a:solidFill>
                <a:latin typeface="Arial"/>
              </a:rPr>
              <a:t>Dashboard 5 halaman + measures risiko + Priority Index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0" i="0">
                <a:solidFill>
                  <a:srgbClr val="EEF1F6"/>
                </a:solidFill>
                <a:latin typeface="Arial"/>
              </a:rPr>
              <a:t>Ringkasan eksekutif (Smart Narrative / Copilot)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0" i="0">
                <a:solidFill>
                  <a:srgbClr val="EEF1F6"/>
                </a:solidFill>
                <a:latin typeface="Arial"/>
              </a:rPr>
              <a:t>3–5 cadangan keutamaan berpaksikan data + pembentangan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528876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PENILAIAN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Kriteria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834823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Arial"/>
              </a:rPr>
              <a:t>Kriteria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5474" y="2011680"/>
            <a:ext cx="22889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Arial"/>
              </a:rPr>
              <a:t>Wajaran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22576"/>
            <a:ext cx="10820095" cy="18288"/>
          </a:xfrm>
          <a:prstGeom prst="rect">
            <a:avLst/>
          </a:prstGeom>
          <a:solidFill>
            <a:srgbClr val="3C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59152"/>
            <a:ext cx="834823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Penyediaan &amp; pemodelan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5474" y="2359152"/>
            <a:ext cx="22889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834823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KPI &amp; measures (DAX)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474" y="2926080"/>
            <a:ext cx="22889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93008"/>
            <a:ext cx="834823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Reka bentuk dashboard &amp; interaktiviti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474" y="3493008"/>
            <a:ext cx="22889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59936"/>
            <a:ext cx="834823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Analitik risiko &amp; penggunaan Copilot/AI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474" y="4059936"/>
            <a:ext cx="22889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26864"/>
            <a:ext cx="834823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Pembentangan &amp; cadangan pengurusan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474" y="4626864"/>
            <a:ext cx="22889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20%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44068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42239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Lengkap semua → Sijil Penyertaan: Visualisasi Data &amp; Dashboard Pintar dengan Power BI, Fabric &amp; Copilot.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022652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RUMUSAN KURSUS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Rantaian kerja data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lengkap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41324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7124" y="192024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7748" y="1920240"/>
            <a:ext cx="720547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Fabric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8296" y="192024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920240"/>
            <a:ext cx="899769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8689" y="192024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09313" y="1920240"/>
            <a:ext cx="899769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Analitik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9083" y="192024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29707" y="1920240"/>
            <a:ext cx="810158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43200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Sedia &amp; model data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(Fabric / Power Query)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Bina dashboard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(Power BI / DAX)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Analitik risiko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(varians, Risk Score, Priority)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Insight AI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(Copilot / visual AI)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54880"/>
            <a:ext cx="10820095" cy="82296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56048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EF1F6"/>
                </a:solidFill>
                <a:latin typeface="Arial"/>
              </a:rPr>
              <a:t>Anda kini boleh menukar data projek luar bandar KKDW kepada insight yang menyokong keputusan.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997756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LAMPIRAN · TANGKAPAN SKRIN SEBENAR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2C811"/>
                </a:solidFill>
                <a:latin typeface="Arial"/>
              </a:rPr>
              <a:t>Copilot </a:t>
            </a:r>
            <a:r>
              <a:rPr sz="2700" b="1" i="0">
                <a:solidFill>
                  <a:srgbClr val="FFFFFF"/>
                </a:solidFill>
                <a:latin typeface="Arial"/>
              </a:rPr>
              <a:t>menjana laporan (sebenar)</a:t>
            </a:r>
          </a:p>
        </p:txBody>
      </p:sp>
      <p:pic>
        <p:nvPicPr>
          <p:cNvPr id="5" name="Picture 4" descr="12-copilot-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5120640" cy="2855742"/>
          </a:xfrm>
          <a:prstGeom prst="rect">
            <a:avLst/>
          </a:prstGeom>
          <a:ln w="12700">
            <a:solidFill>
              <a:srgbClr val="3C4455"/>
            </a:solidFill>
          </a:ln>
          <a:effectLst/>
        </p:spPr>
      </p:pic>
      <p:pic>
        <p:nvPicPr>
          <p:cNvPr id="6" name="Picture 5" descr="13-executive-re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691640"/>
            <a:ext cx="5120640" cy="2855742"/>
          </a:xfrm>
          <a:prstGeom prst="rect">
            <a:avLst/>
          </a:prstGeom>
          <a:ln w="12700">
            <a:solidFill>
              <a:srgbClr val="3C4455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13232" y="48280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Copilot: satu arahan bahasa biasa → halaman laporan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48280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Executive Projek Overview atas KKDW_Model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33095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Copilot menjana keseluruhan halaman dari satu arahan — atas model DirectLake KKDW_Model, dalam pelayar (tanpa Desktop).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899001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LAMPIRAN · ALTERNATIF OPEN-SOURCE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Alternatif </a:t>
            </a:r>
            <a:r>
              <a:rPr sz="2700" b="1" i="0">
                <a:solidFill>
                  <a:srgbClr val="F2C811"/>
                </a:solidFill>
                <a:latin typeface="Arial"/>
              </a:rPr>
              <a:t>sumber terbuka</a:t>
            </a:r>
            <a:r>
              <a:rPr sz="2700" b="1" i="0">
                <a:solidFill>
                  <a:srgbClr val="FFFFFF"/>
                </a:solidFill>
                <a:latin typeface="Arial"/>
              </a:rPr>
              <a:t> (self-hosted)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Bukan stack kursus — rujukan bila kedaulatan data on-prem, elak lesen/kapasiti, atau kawalan infra jadi keutamaan.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Arial"/>
              </a:rPr>
              <a:t>Lapisan Fabric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2402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Arial"/>
              </a:rPr>
              <a:t>Alternatif open-source (on-prem / VM)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51176"/>
            <a:ext cx="10820095" cy="18288"/>
          </a:xfrm>
          <a:prstGeom prst="rect">
            <a:avLst/>
          </a:prstGeom>
          <a:solidFill>
            <a:srgbClr val="3C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87752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OneLake / Lakehouse / Warehouse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2587752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ClickHouse · DuckDB · Postgres + MinIO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26664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Transform (Dataflow Gen2 / Power Query)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3026664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dbt · Airbyte · Airflow · n8n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65576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Visualisasi (Power BI)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3465576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Apache Superset · Metabase · Grafana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04487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Copilot / NL Q&amp;A / jana DAX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3904487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LLM + text-to-SQL (Vanna) · n8n AI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Power Automate / Data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4343400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n8n — amaran email/Teams/WhatsApp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82312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Microsoft Entra (identiti / SSO)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4782312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Keycloak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40680"/>
            <a:ext cx="10820095" cy="86868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596128"/>
            <a:ext cx="102714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2C811"/>
                </a:solidFill>
                <a:latin typeface="Arial"/>
              </a:rPr>
              <a:t>Gabungan popular: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ClickHouse + Superset (+ n8n untuk ingest/automasi). Konsep — Lakehouse, star schema, SQL/DAX, dashboard — boleh dipindah. Kekal Fabric + Power BI melainkan kedaulatan data / lesen jadi keutamaan.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Tahniah!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7472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9AA4B2"/>
                </a:solidFill>
                <a:latin typeface="Arial"/>
              </a:rPr>
              <a:t>Kursus 3 hari selesai — daripada data mentah kepada dashboard pintar KKDW.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8912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D84D"/>
                </a:solidFill>
                <a:latin typeface="Consolas"/>
              </a:rPr>
              <a:t>hari-3/README.md · hari-3/snippets/lab.md · capstone.pbix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