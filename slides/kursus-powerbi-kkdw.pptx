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4" r:id="rId56"/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Pembukaan Hari 1. Tekankan: dashboard yang baik bermula dengan data yang betul. Aliran kerja 5 peringkat.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Peringkat 1-2 (Data + Fabric) ialah fokus hari ini. 3-5 datang Hari 2 &amp;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Berdasarkan Cadangan Use Case KKDW. Tema: dashboard bersepadu JPD+BELB dengan MyProjek. MyProjek paling kaya (kewangan + kemajuan) — tulang belakang analitik risiko Hari 3. Soalan pengurusan utama ini ialah capstone kursus (Hari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Bengkel SESI 1: peserta senaraikan soalan pengurusan sebenar. Ini jadi panduan reka dashboard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BI kini sebahagian daripada Fabric. Copilot memerlukan lesen (F64+) — sahkan dengan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Sediakan alat dahulu. macOS → guna Fabric pelayar (Laluan A). Windows → boleh Desktop. Sahkan lesen Fabric/Copilot (F2+) dengan IT sebelum kelas. Panduan admin penuh: slides/fabric-guide (Bahagian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Jangan tenggelam dalam istilah — tekankan OneLake (satu tempat) &amp; Lakehouse (fail+jadual). Lakehouse &amp; Warehouse serupa; beza: Warehouse T-SQL baca+tulis, Lakehouse SQL baca-sahaja + Spark — pemula guna Lakehouse. Sahkan lesen dengan IT KKDW. 📘 Buku Bab 7 (Lakehouse ms 136, Warehouse ms 141).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kerana dataset kecil. Selalu klik Transform Data, bukan Load, supaya masuk Power Query. Direct Lake ialah mode khas Fabric (data di Lakehouse/Warehouse): laju macam Import tetapi sentiasa terkini, tiada jadual refresh — bukan skop kursus, tapi arah tuju bila KKDW naik taraf. 📘 Buku Bab 7, Direct Lake ms 146–148.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Applied Steps ialah kuasa Power Query — auto-ulang bila data dikemas kini. Tunjuk Conditional Column secara langsung.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 = tambah baris (JPD+BELB). Merge = tambah lajur (bawa kewangan MyProjek). Tekankan beza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 schema = prestasi + drill-down. Satu jadual raksasa = perlahan &amp; bertindih. Dimensi mengelilingi fakta.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 table khusus supaya YoY &amp; time intelligence berfungsi. Mark as Date Table penting.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Deliverable Hari 1 = hari-1.pbix dengan model bersepadu bersih. Lab penuh dalam hari-1/snippets/lab.md.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pencapaian Hari 1 + teaser Hari 2. Ingatkan simpan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Tangkapan skrin sebenar dari tenant Fabric KKDW semasa persediaan kelas (SESI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Jadual bersepadu Projek_Program + model bersepadu (SESI 4–5). Dibina tanpa Power BI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Hari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Hari 1 — Fondasi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Microsoft Fabric · Power Query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Pemodelan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Tema use-case: </a:t>
            </a:r>
            <a:r>
              <a:rPr sz="1500" b="0" i="0">
                <a:solidFill>
                  <a:srgbClr val="9AA4B2"/>
                </a:solidFill>
                <a:latin typeface="Arial"/>
              </a:rPr>
              <a:t>Pemantauan Prestasi Program JPD &amp; BELB Bersepadu dengan MyProjek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541324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7124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7748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Fabric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689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9313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Analitik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908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9707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bina satu model data bersepadu yang bersih &amp; sedia untuk analisis. Belum visual — itu Hari 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ALIRAN KERJA KURSUS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Lima peringkat,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satu matlamat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1226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965960"/>
            <a:ext cx="10180015" cy="749808"/>
          </a:xfrm>
          <a:prstGeom prst="roundRect">
            <a:avLst/>
          </a:prstGeom>
          <a:solidFill>
            <a:srgbClr val="332C16"/>
          </a:solidFill>
          <a:ln w="1270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84831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112264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Kumpul JPD, BELB &amp; MyProjek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0088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843784"/>
            <a:ext cx="10180015" cy="749808"/>
          </a:xfrm>
          <a:prstGeom prst="roundRect">
            <a:avLst/>
          </a:prstGeom>
          <a:solidFill>
            <a:srgbClr val="332C16"/>
          </a:solidFill>
          <a:ln w="1270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96265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Fabric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990088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Sedia, transform, integrasi &amp;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67912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21608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867912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KPI, visual, drill-down, peta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45736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599431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71830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Analitik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4745736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Risk Score, Fizikal vs Kewangan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457200" cy="457200"/>
          </a:xfrm>
          <a:prstGeom prst="roundRect">
            <a:avLst/>
          </a:prstGeom>
          <a:solidFill>
            <a:srgbClr val="4AB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5477256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5961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623560"/>
            <a:ext cx="6979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Tanya data, ringkasan eksekutif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19842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2C811"/>
                </a:solidFill>
                <a:latin typeface="Arial"/>
              </a:rPr>
              <a:t>◄ Fokus Hari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82514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KONTEKS KKDW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Use-case sebenar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pembangunan luar bandar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27632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D84D"/>
                </a:solidFill>
                <a:latin typeface="Arial"/>
              </a:rPr>
              <a:t>Tema: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Dashboard Pintar Pemantauan Prestasi Program JPD &amp; BELB Bersepadu dengan MyProjek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40280"/>
            <a:ext cx="3393338" cy="21488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🛣️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JPD — 1,376 projek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Jalan Perhubungan Desa · kos, panjang jalan, negeri, status, koordinat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240280"/>
            <a:ext cx="3393338" cy="21488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BELB — 23 projek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Bekalan Elektrik Luar Bandar · kampung, peserta, kos,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2240280"/>
            <a:ext cx="3393338" cy="21488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24231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8072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MyProjek — 77 projek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3191256"/>
            <a:ext cx="2991002" cy="996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Pemantauan RMK · % jadual vs sebenar, peruntukan, belanja, baki, KPI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681728"/>
            <a:ext cx="10820095" cy="8686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C811"/>
                </a:solidFill>
                <a:latin typeface="Arial"/>
              </a:rPr>
              <a:t>Soalan pengurusan utama: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projek &amp; kawasan JPD/BELB manakah perlu diberi keutamaan oleh KKDW — dan mengapa?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KENAPA VISUALISASI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Dari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1,476 baris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kepada jawapan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9AA4B2"/>
                </a:solidFill>
                <a:latin typeface="Arial"/>
              </a:rPr>
              <a:t>Dalam Excel mentah, pengurusan tak nampak dengan pantas: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6888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Projek mana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lewat atau berisiko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Negeri/kawasan mana perlu diberi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keutamaan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•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Di mana </a:t>
            </a:r>
            <a:r>
              <a:rPr sz="1700" b="1" i="0">
                <a:solidFill>
                  <a:srgbClr val="EEF1F6"/>
                </a:solidFill>
                <a:latin typeface="Arial"/>
              </a:rPr>
              <a:t>peruntukan tinggi tetapi kemajuan fizikal rendah</a:t>
            </a:r>
            <a:r>
              <a:rPr sz="1700" b="0" i="0">
                <a:solidFill>
                  <a:srgbClr val="EEF1F6"/>
                </a:solidFill>
                <a:latin typeface="Arial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297680"/>
            <a:ext cx="10820095" cy="9144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EF1F6"/>
                </a:solidFill>
                <a:latin typeface="Arial"/>
              </a:rPr>
              <a:t>Dashboard menjawab dalam </a:t>
            </a:r>
            <a:r>
              <a:rPr sz="1600" b="1" i="0">
                <a:solidFill>
                  <a:srgbClr val="F2C811"/>
                </a:solidFill>
                <a:latin typeface="Arial"/>
              </a:rPr>
              <a:t>beberapa saat</a:t>
            </a:r>
            <a:r>
              <a:rPr sz="1600" b="0" i="0">
                <a:solidFill>
                  <a:srgbClr val="EEF1F6"/>
                </a:solidFill>
                <a:latin typeface="Arial"/>
              </a:rPr>
              <a:t> — bukan berjam-jam menapis Excel.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52887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EKOSISTEM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Tiga alat,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tiga peranan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Microsoft 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Platform data bersepadu — simpan, sedia, transform &amp; model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346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Power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Bina visual, dashboard &amp; laporan interaktif di atas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2556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Copilot /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Pembantu pintar — tanya data bahasa biasa, jana insight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72000"/>
            <a:ext cx="10820095" cy="9144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36592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2C811"/>
                </a:solidFill>
                <a:latin typeface="Arial"/>
              </a:rPr>
              <a:t>Analogi: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Fabric = gudang &amp; bilik sedia data · Power BI = bilik pameran · Copilot = pegawai analisis maya.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PERSEDIAAN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Mula di sini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— sediakan alat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Laluan A · Fabric pelayar — WAJIB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Semua peserta · mana-mana OS (macOS)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1" i="0">
                <a:solidFill>
                  <a:srgbClr val="EEF1F6"/>
                </a:solidFill>
                <a:latin typeface="Arial"/>
              </a:rPr>
              <a:t>Fabric + Copilot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— hanya di sini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FFE9A8"/>
                </a:solidFill>
                <a:latin typeface="Consolas"/>
              </a:rPr>
              <a:t>app.fabric.microsoft.com</a:t>
            </a:r>
            <a:r>
              <a:rPr sz="1300" b="0" i="0">
                <a:solidFill>
                  <a:srgbClr val="EEF1F6"/>
                </a:solidFill>
                <a:latin typeface="Arial"/>
              </a:rPr>
              <a:t> → log masuk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Boleh laksana keseluruhan Hari 1–3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EF1F6"/>
                </a:solidFill>
                <a:latin typeface="Arial"/>
              </a:rPr>
              <a:t>Laluan B · Desktop — PILIHAN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743200"/>
            <a:ext cx="4678527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Windows sahaja · pilihan tambahan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Authoring laporan/DAX (Hari 2–3)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Tak boleh </a:t>
            </a:r>
            <a:r>
              <a:rPr sz="1300" b="1" i="0">
                <a:solidFill>
                  <a:srgbClr val="EEF1F6"/>
                </a:solidFill>
                <a:latin typeface="Arial"/>
              </a:rPr>
              <a:t>Fabric/Lakehouse/Copilot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macOS → guna Power BI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53712"/>
            <a:ext cx="10820095" cy="658368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4A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B3E0"/>
                </a:solidFill>
                <a:latin typeface="Arial"/>
              </a:rPr>
              <a:t>Lesen: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Fabric penuh + Copilot perlu kapasiti F2+ berbayar (trial tiada Copilot). Sahkan dengan IT KKDW.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1 (data + model) boleh 100% pelayar (Fabric) — tiada Desktop perlu. Desktop (Windows) untuk Hari 2–3.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10896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2 · MICROSOFT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Istilah Fabric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yang perlu tahu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84831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OneLake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084831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"OneDrive untuk data" — satu tasik data untuk seluruh KKDW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24328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Ruang kerja berkumpulan — simpan &amp; kongsi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82696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0156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Lakehouse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01568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Fail mentah + jadual berstruktur dalam satu tempat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41064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Dataflows Gen2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4059936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Power Query di awan — transformasi boleh dijadual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99431"/>
            <a:ext cx="2743200" cy="530352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1830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Consolas"/>
              </a:rPr>
              <a:t>Semantic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718303"/>
            <a:ext cx="78025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Model data (jadual + relationships + measures)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Lesen: ciri penuh Fabric perlukan F64+. Lakehouse (no-code, pemula) vs Warehouse (mahir T-SQL) — kursus guna Lakehouse. Boleh 100% Power BI Desktop jika perlu.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MODE SAMBUNGAN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Import, DirectQuery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&amp; Direct Lake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2C811"/>
                </a:solidFill>
                <a:latin typeface="Arial"/>
              </a:rPr>
              <a:t>Import  ✓ pilihan kita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6785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disimpan dalam .pbix (dalam memori)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Sangat pantas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Sesuai data kecil–sederhana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KKDW kecil → </a:t>
            </a:r>
            <a:r>
              <a:rPr sz="1350" b="1" i="0">
                <a:solidFill>
                  <a:srgbClr val="EEF1F6"/>
                </a:solidFill>
                <a:latin typeface="Arial"/>
              </a:rPr>
              <a:t>guna Import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EF1F6"/>
                </a:solidFill>
                <a:latin typeface="Arial"/>
              </a:rPr>
              <a:t>DirectQuery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788920"/>
            <a:ext cx="4678527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Data kekal di sumber; ditanya masa nyata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Kelajuan bergantung sumber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Sesuai data sangat besar / langsung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Untuk kemudian, bukan kursus 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553712"/>
            <a:ext cx="10820095" cy="658368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4AB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690872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AB3E0"/>
                </a:solidFill>
                <a:latin typeface="Arial"/>
              </a:rPr>
              <a:t>Mode ketiga (Fabric):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Direct Lake</a:t>
            </a:r>
            <a:r>
              <a:rPr sz="1300" b="0" i="0">
                <a:solidFill>
                  <a:srgbClr val="EEF1F6"/>
                </a:solidFill>
                <a:latin typeface="Arial"/>
              </a:rPr>
              <a:t> — kelajuan Import tanpa perlu refresh; hanya bila data di Lakehouse/Warehouse. Tidak diguna dalam kursus ini.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Get Data → Excel → Transform Data (bukan Load terus) — kita bersihkan dulu di SESI 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3 · POWER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Bersihkan data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guna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54864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Applied Steps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setiap langkah direkod, boleh diulang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Jenis data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kos_projek → Decimal, tahun → Whole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Kendali null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&amp; buang lajur teknikal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Standardkan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negeri, daerah, status (UPPERCASE + Trim)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Conditional Column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kategori status ringkas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19"/>
            <a:ext cx="5105095" cy="237744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874519"/>
            <a:ext cx="54864" cy="237744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2002536"/>
            <a:ext cx="4647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kategori_status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13432"/>
            <a:ext cx="464789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JIKA status = "PASCA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→ "Siap"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JIKA status = "DALAM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→ "Dalam Pelaksanaan"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selainnya → "Belum Mula / Lain"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7091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46908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Data sebenar JPD: PASCA PELAKSANAAN (949) · DALAM PELAKSANAAN (405). Seragamkan supaya visual status konsisten.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4 · INTEGRASI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Gabung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tiga fail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jadi satu pandangan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D84D"/>
                </a:solidFill>
                <a:latin typeface="Arial"/>
              </a:rPr>
              <a:t>Append — susun baris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Cantum jadual struktur sama. Gabung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JPD + BELB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→ satu jadual Projek_Program dengan lajur </a:t>
            </a:r>
            <a:r>
              <a:rPr sz="1400" b="0" i="0">
                <a:solidFill>
                  <a:srgbClr val="FFE9A8"/>
                </a:solidFill>
                <a:latin typeface="Consolas"/>
              </a:rPr>
              <a:t>program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= JPD/BELB.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965960"/>
            <a:ext cx="5227167" cy="24688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1945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D84D"/>
                </a:solidFill>
                <a:latin typeface="Arial"/>
              </a:rPr>
              <a:t>Merge — gabung lajur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2697480"/>
            <a:ext cx="467852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Bawa lajur dari jadual lain ikut kunci padanan </a:t>
            </a:r>
            <a:r>
              <a:rPr sz="1400" b="0" i="0">
                <a:solidFill>
                  <a:srgbClr val="FFE9A8"/>
                </a:solidFill>
                <a:latin typeface="Consolas"/>
              </a:rPr>
              <a:t>kod_projek</a:t>
            </a:r>
            <a:r>
              <a:rPr sz="1400" b="0" i="0">
                <a:solidFill>
                  <a:srgbClr val="EEF1F6"/>
                </a:solidFill>
                <a:latin typeface="Arial"/>
              </a:rPr>
              <a:t>. Seperti VLOOKUP tetapi lebih berkuasa — kaitkan kewangan MyProjek.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00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782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Hasil: satu pandangan projek yang boleh ditapis ikut program, negeri &amp; status.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5 · PEMODELAN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Star Schema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— bukan satu jadual besar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3200400"/>
            <a:ext cx="2377440" cy="86868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336499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Fakta_Projek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3675887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kos · belanja · % kemajuan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Dim_Negeri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420624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7083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1168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17627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Dim_Tarikh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206240"/>
            <a:ext cx="2011680" cy="6400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370831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84D"/>
                </a:solidFill>
                <a:latin typeface="Consolas"/>
              </a:rPr>
              <a:t>Dim_Agensi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21208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C811"/>
                </a:solidFill>
                <a:latin typeface="Arial"/>
              </a:rPr>
              <a:t>Fakta</a:t>
            </a:r>
            <a:r>
              <a:rPr sz="1350" b="0" i="0">
                <a:solidFill>
                  <a:srgbClr val="EEF1F6"/>
                </a:solidFill>
                <a:latin typeface="Arial"/>
              </a:rPr>
              <a:t> = nombor diukur (satu baris = satu projek).  </a:t>
            </a:r>
            <a:r>
              <a:rPr sz="1350" b="1" i="0">
                <a:solidFill>
                  <a:srgbClr val="FFD84D"/>
                </a:solidFill>
                <a:latin typeface="Arial"/>
              </a:rPr>
              <a:t>Dimensi</a:t>
            </a:r>
            <a:r>
              <a:rPr sz="1350" b="0" i="0">
                <a:solidFill>
                  <a:srgbClr val="EEF1F6"/>
                </a:solidFill>
                <a:latin typeface="Arial"/>
              </a:rPr>
              <a:t> = konteks untuk tapis/kumpul.  Relationship one-to-many.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5 · DATE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Date table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— wajib untuk analisis masa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669280" cy="155448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54864" cy="155448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48256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New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59152"/>
            <a:ext cx="5212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Dim_Tarikh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CALENDAR (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   DATE ( 2015, 1, 1 ),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   DATE ( 2030, 12, 31 )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83077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Tambah lajur </a:t>
            </a:r>
            <a:r>
              <a:rPr sz="1350" b="0" i="0">
                <a:solidFill>
                  <a:srgbClr val="FFE9A8"/>
                </a:solidFill>
                <a:latin typeface="Consolas"/>
              </a:rPr>
              <a:t>Tahun = YEAR(Date)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Mark as Date Table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Berdasarkan tahun_jangka_mula / siap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>
                <a:solidFill>
                  <a:srgbClr val="F2C811"/>
                </a:solidFill>
                <a:latin typeface="Arial"/>
              </a:rPr>
              <a:t>• 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Membolehkan Time Intelligence (Hari 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94760"/>
            <a:ext cx="10820095" cy="14173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10271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D84D"/>
                </a:solidFill>
                <a:latin typeface="Arial"/>
              </a:rPr>
              <a:t>Amalan terbaik pemodelan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89120"/>
            <a:ext cx="102714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C811"/>
                </a:solidFill>
                <a:latin typeface="Arial"/>
              </a:rPr>
              <a:t>•  </a:t>
            </a:r>
            <a:r>
              <a:rPr sz="1250" b="0" i="0">
                <a:solidFill>
                  <a:srgbClr val="EEF1F6"/>
                </a:solidFill>
                <a:latin typeface="Arial"/>
              </a:rPr>
              <a:t>Sembunyikan lajur teknikal (id, kunci) daripada paparan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2C811"/>
                </a:solidFill>
                <a:latin typeface="Arial"/>
              </a:rPr>
              <a:t>•  </a:t>
            </a:r>
            <a:r>
              <a:rPr sz="1250" b="0" i="0">
                <a:solidFill>
                  <a:srgbClr val="EEF1F6"/>
                </a:solidFill>
                <a:latin typeface="Arial"/>
              </a:rPr>
              <a:t>Elak relationship many-to-many melainkan perlu · satu Date table aktif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LAB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Checklist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Ketiga-tiga set data dimuat &amp; dibersihkan dalam Power Query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Medan negeri, status_pelaksanaan &amp; kewangan bertaip betul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Jadual dimensi + Date table wujud (Mark as Date Table)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Relationships dibina — star schema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700" b="1">
                <a:solidFill>
                  <a:srgbClr val="F2C811"/>
                </a:solidFill>
                <a:latin typeface="Arial"/>
              </a:rPr>
              <a:t>☐  </a:t>
            </a:r>
            <a:r>
              <a:rPr sz="1700" b="0" i="0">
                <a:solidFill>
                  <a:srgbClr val="EEF1F6"/>
                </a:solidFill>
                <a:latin typeface="Arial"/>
              </a:rPr>
              <a:t>Fail disimpan sebagai </a:t>
            </a:r>
            <a:r>
              <a:rPr sz="1700" b="1" i="0">
                <a:solidFill>
                  <a:srgbClr val="FFE9A8"/>
                </a:solidFill>
                <a:latin typeface="Consolas"/>
              </a:rPr>
              <a:t>hari-1.pbix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RINGKASAN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Anda telah bina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fondasi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Faham ekosistem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Power BI · Fabric · Copilot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Muat &amp; bersihkan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JPD, BELB, MyProjek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(Power Query)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Gabung data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(Append + Merge)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jadi satu pandangan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star schema + Date table +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393338" cy="16916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Esok · Hari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DAX, visual, drill-down &amp; 4 halaman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Measures: Jumlah Projek, Peruntukan, % Utilisasi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Peta &amp; drill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Malaysia → Negeri → Daerah → Kampung → Projek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943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925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Simpan hari-1.pbix — esok kita hidupkan data ini dengan DAX &amp; visual. AI membantu, anda memandu.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Persediaan Fabric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— skrin sebenar</a:t>
            </a:r>
          </a:p>
        </p:txBody>
      </p:sp>
      <p:pic>
        <p:nvPicPr>
          <p:cNvPr id="5" name="Picture 4" descr="01-workspace-kkdw-copi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5742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pic>
        <p:nvPicPr>
          <p:cNvPr id="6" name="Picture 5" descr="09-three-queries-load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857069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Workspace KKDW Copilot (kapasiti Fabric)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Dataflow Gen2 KKDW_Ingest — JPD · BELB · MyProjek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Aliran Data → Fabric dibina 100% dalam pelayar (tanpa Power BI Desktop) — data sebenar KKDW.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Jadual bersepadu &amp;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model KKDW_Model</a:t>
            </a:r>
          </a:p>
        </p:txBody>
      </p:sp>
      <p:pic>
        <p:nvPicPr>
          <p:cNvPr id="5" name="Picture 4" descr="11-lakehouse-projek-pro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7069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pic>
        <p:nvPicPr>
          <p:cNvPr id="6" name="Picture 5" descr="10-model-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995360"/>
          </a:xfrm>
          <a:prstGeom prst="rect">
            <a:avLst/>
          </a:prstGeom>
          <a:ln w="12700">
            <a:solidFill>
              <a:srgbClr val="3C4455"/>
            </a:solidFill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Lakehouse: Projek_Program (JPD∪BELB, 1,399 baris)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Model view: star schema (7 jadual + relationships)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Model DirectLake KKDW_Model — 7 jadual, 4 relationships, 23 measures, semua diuji.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4B2"/>
                </a:solidFill>
                <a:latin typeface="Arial"/>
              </a:rPr>
              <a:t>Hari 1 selesai — fondasi data siap. Jumpa esok untuk Power BI!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hari-1/README.md · hari-1/snippets/lab.md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17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Hari 2 — Power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DAX · Visualisasi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Menukar model data kepada dashboard pengurusan interaktif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451713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51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8137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Visual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8684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9308" y="4709160"/>
            <a:ext cx="1078992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Drill-down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8300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924" y="4709160"/>
            <a:ext cx="989380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4 Halaman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8305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8929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Publish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8 measure teras + 4 halaman dashboard, diterbit ke Power BI Service.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SAMBUNGAN 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Kita ada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model data bersepadu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FFE9A8"/>
                </a:solidFill>
                <a:latin typeface="Consolas"/>
              </a:rPr>
              <a:t>hari-1.pbix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JPD + BELB + MyProjek, bersih &amp; bermodel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Star schema: Fakta_Projek + Dim_Negeri/Status/Tarikh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Medan bertaip betul, status diseragamkan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10820095" cy="10972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5196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2C811"/>
                </a:solidFill>
                <a:latin typeface="Arial"/>
              </a:rPr>
              <a:t>Hari ini: </a:t>
            </a:r>
            <a:r>
              <a:rPr sz="1550" b="0" i="0">
                <a:solidFill>
                  <a:srgbClr val="EEF1F6"/>
                </a:solidFill>
                <a:latin typeface="Arial"/>
              </a:rPr>
              <a:t>kira KPI (DAX) → bina visual → drill-down &amp; peta → 4 halaman → publish.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82514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DAX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Apa itu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DAX</a:t>
            </a:r>
            <a:r>
              <a:rPr sz="3800" b="1" i="0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Data Analysis Expressions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 — bahasa formula Power BI. Seperti formula Excel, tetapi bekerja atas </a:t>
            </a:r>
            <a:r>
              <a:rPr sz="1700" b="1" i="0">
                <a:solidFill>
                  <a:srgbClr val="FFD84D"/>
                </a:solidFill>
                <a:latin typeface="Arial"/>
              </a:rPr>
              <a:t>jadual &amp; relationships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, bukan sel.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017520"/>
            <a:ext cx="5227167" cy="219456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EF1F6"/>
                </a:solidFill>
                <a:latin typeface="Arial"/>
              </a:rPr>
              <a:t>Calculated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49039"/>
            <a:ext cx="46785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Dikira baris demi baris, disimpan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Guna memori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Contoh: kategori status per projek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3017520"/>
            <a:ext cx="5227167" cy="219456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32461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2C811"/>
                </a:solidFill>
                <a:latin typeface="Arial"/>
              </a:rPr>
              <a:t>Measure  ✓ utamakan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749039"/>
            <a:ext cx="4678527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Dikira masa nyata, ikut konteks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Tidak guna memori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C811"/>
                </a:solidFill>
                <a:latin typeface="Arial"/>
              </a:rPr>
              <a:t>•  </a:t>
            </a:r>
            <a:r>
              <a:rPr sz="1300" b="0" i="0">
                <a:solidFill>
                  <a:srgbClr val="EEF1F6"/>
                </a:solidFill>
                <a:latin typeface="Arial"/>
              </a:rPr>
              <a:t>Contoh: Jumlah Peruntukan, % Utilisasi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Prestasi: utamakan measure; jika perlu lajur baru, buat di Power Query (bukan calculated column). Guna VAR untuk measure kompleks (Hari 3).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911449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FILTER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Satu measure,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banyak konteks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EEF1F6"/>
                </a:solidFill>
                <a:latin typeface="Arial"/>
              </a:rPr>
              <a:t>Nilai measure </a:t>
            </a:r>
            <a:r>
              <a:rPr sz="1700" b="1" i="0">
                <a:solidFill>
                  <a:srgbClr val="FFD84D"/>
                </a:solidFill>
                <a:latin typeface="Arial"/>
              </a:rPr>
              <a:t>berubah ikut konteks</a:t>
            </a:r>
            <a:r>
              <a:rPr sz="1700" b="0" i="0">
                <a:solidFill>
                  <a:srgbClr val="EEF1F6"/>
                </a:solidFill>
                <a:latin typeface="Arial"/>
              </a:rPr>
              <a:t> visual — inilah kuasa DAX.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5394960" cy="86868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743200"/>
            <a:ext cx="54864" cy="86868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871216"/>
            <a:ext cx="4937760" cy="6309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FFE9A8"/>
                </a:solidFill>
                <a:latin typeface="Consolas"/>
              </a:rPr>
              <a:t>Jumlah Kos = SUM ( Fakta[kos_projek]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4048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Pada satu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Card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jumlah keseluruhan semua projek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Dalam carta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"ikut negeri"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automatik dikira per negeri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Ditapis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slicer Tahun = 2024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→ hanya projek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4864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54681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Tulis measure sekali; Power BI kira semula ikut setiap visual, slicer &amp; drill. Tak perlu ulang formula.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6 · KPI KKDW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8 measure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teras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20095" cy="31089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31089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62895" cy="28712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Projek     = COUNTROWS ( Projek_Program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Peruntukan = SUM ( MyProjek[peruntukan_disemak_janm]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Jumlah Belanja    = SUM ( MyProjek[belanja_janm]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Baki              = [Jumlah Peruntukan] - [Jumlah Belanja]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% Utilisasi       = DIVIDE ( [Jumlah Belanja], [Jumlah Peruntukan]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Projek Siap       = CALCULATE ( [Jumlah Projek],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E9A8"/>
                </a:solidFill>
                <a:latin typeface="Consolas"/>
              </a:rPr>
              <a:t>                       Projek_Program[kategori_status] = "Siap"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2120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1937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Guna DIVIDE(a,b) bukan a/b — ia elak ralat bahagi-dengan-sifar. Letak semua dalam jadual _Measures.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7 · VISUALISASI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Pilih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visual yang betul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726622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Nak tunjuk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3464" y="1965960"/>
            <a:ext cx="337099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Visual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7685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Satu nombor penting (jumlah projek, peruntukan)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3464" y="2313432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Card / KPI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25496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Perbandingan antara kategori (projek ikut negeri)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3464" y="2825496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Bar /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Trend ikut masa (belanja ikut tahun)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3464" y="3337560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49624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Nilai berperingkat + drill (negeri → daerah)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3464" y="3849624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61688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Bahagian daripada keseluruhan (status)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3464" y="4361688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Donut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873752"/>
            <a:ext cx="7266224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Lokasi geografi projek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3464" y="4873752"/>
            <a:ext cx="337099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EF1F6"/>
                </a:solidFill>
                <a:latin typeface="Arial"/>
              </a:rPr>
              <a:t>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7 · REKA BENTUK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Prinsip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dashboard pengurusan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Fokus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Nombor paling penting di atas-kiri (mata mula baca di situ)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5867" y="201168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7035" y="219456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7035" y="257860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Kurangkan bunyi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7035" y="296265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Buang grid berlebihan, warna melampau, 3D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74904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3308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Konsisten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51713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Satu palet · warna status seragam (Hijau/Kuning/Merah)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5867" y="3566160"/>
            <a:ext cx="5250027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7035" y="3749040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🏷️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7035" y="4133088"/>
            <a:ext cx="484769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Konteks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035" y="4517136"/>
            <a:ext cx="4847691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Setiap visual ada tajuk &amp; unit (RM, %, km)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949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3766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Conditional Formatting: warnakan nilai automatik ikut syarat — asas indikator risiko Hari 3.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81269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8 · INTERAKTIVITI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Drill-down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hierarki KKDW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20095" cy="7772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9456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rial"/>
              </a:rPr>
              <a:t>Malaysia → Negeri → Parlimen → DUN → Kampung → Projek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0896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Slicer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penapis Negeri / Tahun / Program di atas halaman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Cross-filter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klik satu bar → semua visual lain ditapis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Drill-down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turun peringkat dalam satu visual (Negeri → Daerah)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Drill-through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klik kanan projek → lompat ke halaman butiran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923897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8 · PETA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Lokasi projek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pada peta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JPD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ada koordinat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lat_1, long_1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→ Map (titik lokasi jalan)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BELB / MyProjek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→ Filled Map ikut Negeri / Daerah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Saiz titik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= kos projek → nampak projek besar sekilas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10820095" cy="109728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06240"/>
            <a:ext cx="102714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2C811"/>
                </a:solidFill>
                <a:latin typeface="Arial"/>
              </a:rPr>
              <a:t>Tip: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set Data Category medan lokasi (Modeling → Data Category → State/Province, City) supaya Power BI kenal tempat dengan tepat.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9 ·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2C811"/>
                </a:solidFill>
                <a:latin typeface="Arial"/>
              </a:rPr>
              <a:t>Empat halaman </a:t>
            </a:r>
            <a:r>
              <a:rPr sz="3800" b="1" i="0">
                <a:solidFill>
                  <a:srgbClr val="FFFFFF"/>
                </a:solidFill>
                <a:latin typeface="Arial"/>
              </a:rPr>
              <a:t>bersepadu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1226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96596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08483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1226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Jumlah projek, peruntukan, status, kemajuan, projek berisiko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8094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834639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95351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JPD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98094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Projek &amp; kos ikut negeri, panjang jalan, kos/km, peta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4962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370332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822191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BELB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84962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Kampung terlibat, sambungan siap vs sasaran, kos/sambungan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18304"/>
            <a:ext cx="457200" cy="457200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4572000"/>
            <a:ext cx="10180015" cy="74980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69087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Financial &amp; Physical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4718304"/>
            <a:ext cx="5973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Peruntukan vs belanja vs baki, % utilisasi, ketidakpadanan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Halaman ke-5 (AI Project Risk &amp; Early Warning) dibina esok, Hari 3. Simpan hari-2.pbix.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10 · PUBLISH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Terbit &amp;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kongsi selamat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Publish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→ pilih Workspace KKDW → laporan naik ke Power BI Service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Report vs Dashboard vs App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laporan penuh, papan pin, pakej dikongsi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Scheduled refresh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dashboard sentiasa terkini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RLS + OLS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sekat baris (Sabah → projek Sabah) &amp; lajur sensitif (kos)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1" i="0">
                <a:solidFill>
                  <a:srgbClr val="EEF1F6"/>
                </a:solidFill>
                <a:latin typeface="Arial"/>
              </a:rPr>
              <a:t>Endorsement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— model rasmi ditanda </a:t>
            </a:r>
            <a:r>
              <a:rPr sz="1400" b="1" i="0">
                <a:solidFill>
                  <a:srgbClr val="3DDC97"/>
                </a:solidFill>
                <a:latin typeface="Arial"/>
              </a:rPr>
              <a:t>Certified</a:t>
            </a:r>
            <a:r>
              <a:rPr sz="1400" b="0" i="0">
                <a:solidFill>
                  <a:srgbClr val="EEF1F6"/>
                </a:solidFill>
                <a:latin typeface="Arial"/>
              </a:rPr>
              <a:t> supaya pegawai kenal sumber sebenar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251960"/>
            <a:ext cx="10820095" cy="96012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434840"/>
            <a:ext cx="102714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5C56B"/>
                </a:solidFill>
                <a:latin typeface="Arial"/>
              </a:rPr>
              <a:t>Keselamatan data KKDW: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kongsi hanya kepada pengguna dibenarkan · RLS/OLS untuk data sensitif · sahkan residensi data dengan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62763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LAB HARI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Checklist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sebelum balik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1082009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8 measure teras siap &amp; betul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4 halaman dashboard lengkap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Drill-down (Negeri → Daerah → Kampung) &amp; peta berfungsi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Slicer Negeri/Tahun/Program merentas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650" b="1">
                <a:solidFill>
                  <a:srgbClr val="F2C811"/>
                </a:solidFill>
                <a:latin typeface="Arial"/>
              </a:rPr>
              <a:t>☐  </a:t>
            </a:r>
            <a:r>
              <a:rPr sz="1650" b="0" i="0">
                <a:solidFill>
                  <a:srgbClr val="EEF1F6"/>
                </a:solidFill>
                <a:latin typeface="Arial"/>
              </a:rPr>
              <a:t>Laporan diterbit ke Service · disimpan </a:t>
            </a:r>
            <a:r>
              <a:rPr sz="1650" b="1" i="0">
                <a:solidFill>
                  <a:srgbClr val="FFE9A8"/>
                </a:solidFill>
                <a:latin typeface="Consolas"/>
              </a:rPr>
              <a:t>hari-2.pbix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22016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RINGKASAN HARI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Dashboard anda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berfungsi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Kuasai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DAX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— measure, CALCULATE, filter context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visual berkesan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+ conditional formatting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Interaktiviti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drill-down, drill-through &amp; peta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Terbit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4 halaman dashboard</a:t>
            </a:r>
            <a:r>
              <a:rPr sz="1450" b="0" i="0">
                <a:solidFill>
                  <a:srgbClr val="EEF1F6"/>
                </a:solidFill>
                <a:latin typeface="Arial"/>
              </a:rPr>
              <a:t> ke Power BI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14800"/>
            <a:ext cx="3393338" cy="169164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Esok · Hari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Analitik risiko + Copilot/AI + capstone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0346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Early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0346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Varians jadual vs sebenar · Hijau/Kuning/Merah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2556" y="4114800"/>
            <a:ext cx="3393338" cy="169164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3724" y="429768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468172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Copilot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3724" y="5065776"/>
            <a:ext cx="2991002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AA4B2"/>
                </a:solidFill>
                <a:latin typeface="Arial"/>
              </a:rPr>
              <a:t>Tanya data bahasa biasa, ringkasan eksekutif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9436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9253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Esok kita tambah kecerdasan — kesan risiko &amp; keutamaan. AI membantu, anda memandu.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51642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KUIZ RECAP · KAHOOT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Kuiz recap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Hari 2</a:t>
            </a:r>
            <a:r>
              <a:rPr sz="3800" b="1" i="0">
                <a:solidFill>
                  <a:srgbClr val="FFFFFF"/>
                </a:solidFill>
                <a:latin typeface="Arial"/>
              </a:rPr>
              <a:t> — Kahoot (12 soalan)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10512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Arial"/>
              </a:rPr>
              <a:t>Main sebagai kumpulan untuk semak kefahaman — jawapan betul ditebalkan.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5227167" cy="29718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87752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DAX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08960"/>
            <a:ext cx="467852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DAX =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Data Analysis Expressions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Measure vs column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measure ikut konteks, tak disimpan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Filter context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nilai berubah ikut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Kira bilangan baris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COUNTROWS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Ubah filter context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CALCULATE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Multi-syarat (ganti IF)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SWITCH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% Utilisasi / elak ÷0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DIVIDE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2423160"/>
            <a:ext cx="5227167" cy="29718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047" y="2587752"/>
            <a:ext cx="46785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Visualisasi &amp;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3108960"/>
            <a:ext cx="4678527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Hierarki drill-down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Malaysia→Negeri→…→Projek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Drill-down vs drill-through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1 visual vs halaman butiran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Warna status seragam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Hijau/Kuning/Merah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F2C811"/>
                </a:solidFill>
                <a:latin typeface="Arial"/>
              </a:rPr>
              <a:t>• 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Peta ikut nama tempat → </a:t>
            </a:r>
            <a:r>
              <a:rPr sz="1150" b="1" i="0">
                <a:solidFill>
                  <a:srgbClr val="EEF1F6"/>
                </a:solidFill>
                <a:latin typeface="Arial"/>
              </a:rPr>
              <a:t>set Data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5778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55595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Kahoot: “Kuiz Hari 2 KKDW — DAX &amp; Visualisasi” (12 soalan) — host dari Library Kahoot. Bermain ~10 min.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6888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6616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AA4B2"/>
                </a:solidFill>
                <a:latin typeface="Arial"/>
              </a:rPr>
              <a:t>Hari 2 selesai — dashboard hidup. Esok: analitik &amp; AI!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hari-2/README.md · hari-2/snippets/lab.md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D84D"/>
                </a:solidFill>
                <a:latin typeface="Arial"/>
              </a:rPr>
              <a:t>Power BI · Microsoft Fabric ·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Hari 3 — Analitik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8036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EEF1F6"/>
                </a:solidFill>
                <a:latin typeface="Arial"/>
              </a:rPr>
              <a:t>Risiko · </a:t>
            </a:r>
            <a:r>
              <a:rPr sz="2600" b="1" i="0">
                <a:solidFill>
                  <a:srgbClr val="F2C811"/>
                </a:solidFill>
                <a:latin typeface="Arial"/>
              </a:rPr>
              <a:t>Copilot / AI</a:t>
            </a:r>
            <a:r>
              <a:rPr sz="2600" b="1" i="0">
                <a:solidFill>
                  <a:srgbClr val="EEF1F6"/>
                </a:solidFill>
                <a:latin typeface="Arial"/>
              </a:rPr>
              <a:t> ·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84048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9AA4B2"/>
                </a:solidFill>
                <a:latin typeface="Arial"/>
              </a:rPr>
              <a:t>Menukar data kepada insight yang menyokong keputusan pengurusan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70916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6347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6971" y="4709160"/>
            <a:ext cx="1078992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Risk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05963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6587" y="4709160"/>
            <a:ext cx="989380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Visual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36592" y="470916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6750" y="470916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67374" y="470916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Capstone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7607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57424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Hari ini: kesan projek lewat &amp; keutamaan, guna Copilot untuk insight, lengkapkan capstone.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 / 16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417673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SAMBUNGAN HARI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Kita ada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dashboard berfungsi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1" i="0">
                <a:solidFill>
                  <a:srgbClr val="FFE9A8"/>
                </a:solidFill>
                <a:latin typeface="Consolas"/>
              </a:rPr>
              <a:t>hari-2.pbix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model bersepadu + 4 halaman + measures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Diterbit ke Power BI Service, interaktif dengan drill-down &amp; peta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10820095" cy="13716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88620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2C811"/>
                </a:solidFill>
                <a:latin typeface="Arial"/>
              </a:rPr>
              <a:t>Hari ini: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bina measure risiko → halaman AI Risk &amp; Early Warning → visual AI terbina → Copilot → capstone yang menjawab soalan pengurusan utama.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2 / 16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911449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11 · EARLY WARNING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Kesan projek lewat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lebih 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peratus_jadual_projek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sepatutnya sudah siap sebanyak ini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FFE9A8"/>
                </a:solidFill>
                <a:latin typeface="Consolas"/>
              </a:rPr>
              <a:t>peratus_sebenar_projek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— kemajuan fizikal betul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00400"/>
            <a:ext cx="10820095" cy="9144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200400"/>
            <a:ext cx="54864" cy="9144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3328416"/>
            <a:ext cx="10362895" cy="6766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E9A8"/>
                </a:solidFill>
                <a:latin typeface="Consolas"/>
              </a:rPr>
              <a:t>Varians = % Sebenar − % Jadual     (negatif = lewat)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434840"/>
            <a:ext cx="10820095" cy="82296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Bila </a:t>
            </a:r>
            <a:r>
              <a:rPr sz="1500" b="1" i="0">
                <a:solidFill>
                  <a:srgbClr val="E85D5D"/>
                </a:solidFill>
                <a:latin typeface="Arial"/>
              </a:rPr>
              <a:t>sebenar &lt; jadual</a:t>
            </a:r>
            <a:r>
              <a:rPr sz="1500" b="0" i="0">
                <a:solidFill>
                  <a:srgbClr val="EEF1F6"/>
                </a:solidFill>
                <a:latin typeface="Arial"/>
              </a:rPr>
              <a:t>, projek ketinggalan. Ukuran itu = varians.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3 / 16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207715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11 · INDIKATOR RISIKO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Hijau · Kuning · </a:t>
            </a:r>
            <a:r>
              <a:rPr sz="3800" b="1" i="0">
                <a:solidFill>
                  <a:srgbClr val="E85D5D"/>
                </a:solidFill>
                <a:latin typeface="Arial"/>
              </a:rPr>
              <a:t>Merah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3423818" cy="109728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🟢 Hijau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3DDC97"/>
                </a:solidFill>
                <a:latin typeface="Consolas"/>
              </a:rPr>
              <a:t>0 hingga −5%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Normal / atas jadual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3938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3938" y="1920240"/>
            <a:ext cx="3423818" cy="109728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🟡 Kuning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2C811"/>
                </a:solidFill>
                <a:latin typeface="Consolas"/>
              </a:rPr>
              <a:t>−5% hingga −10%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Perlu perhatian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2076" y="1920240"/>
            <a:ext cx="3423818" cy="1463040"/>
          </a:xfrm>
          <a:prstGeom prst="roundRect">
            <a:avLst/>
          </a:prstGeom>
          <a:solidFill>
            <a:srgbClr val="262B38"/>
          </a:solidFill>
          <a:ln w="19050">
            <a:solidFill>
              <a:srgbClr val="E8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2076" y="1920240"/>
            <a:ext cx="3423818" cy="109728"/>
          </a:xfrm>
          <a:prstGeom prst="rect">
            <a:avLst/>
          </a:prstGeom>
          <a:solidFill>
            <a:srgbClr val="E8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4956" y="21488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🔴 Merah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4956" y="260604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85D5D"/>
                </a:solidFill>
                <a:latin typeface="Consolas"/>
              </a:rPr>
              <a:t>melebihi −10%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4956" y="2971800"/>
            <a:ext cx="305805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Berisiko / lewat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10820095" cy="16002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54864" cy="16002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3739896"/>
            <a:ext cx="10362895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Status Risiko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SWITCH ( TRUE (),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[Varians Kemajuan] &gt;= -5, "Hijau",   -- skala 0-100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[Varians Kemajuan] &gt;= -10, "Kuning",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   "Merah" 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4 / 16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50398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12 · FIZIKAL VS KEWANGAN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Kesan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ketidakpadanan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Fizikal &amp; kewangan bergerak seimbang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011680"/>
            <a:ext cx="3393338" cy="210312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346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346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Risiko kewangan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346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Belanja 80% tetapi fizikal 50% → perlu semakan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2556" y="2011680"/>
            <a:ext cx="3393338" cy="210312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3724" y="2194560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3724" y="2578608"/>
            <a:ext cx="29910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Under-utilisation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3724" y="2962656"/>
            <a:ext cx="2991002" cy="950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Fizikal baik tetapi belanja masih rendah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463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8280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Scatter: % Utilisasi (x) vs % Sebenar (y) — titik jauh dari pepenjuru = ketidakpadanan yang perlu disemak.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5 / 16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80024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12 · RISK SCORE &amp; KECEKAPAN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Susun projek ikut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skor risiko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820095" cy="160020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16002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002536"/>
            <a:ext cx="10362895" cy="1362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Risk Score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VAR VarLewat   = SWITCH ( TRUE (), [Varians] &lt; -10, 2, [Varians] &lt; -5, 1, 0 )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VAR VarBelanja = IF ( [% Utilisasi] * 100 &gt; [% Sebenar] + 20, 2, 0 )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FFE9A8"/>
                </a:solidFill>
                <a:latin typeface="Consolas"/>
              </a:rPr>
              <a:t>RETURN VarLewat + VarBelanja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57600"/>
            <a:ext cx="5227167" cy="10515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54864" cy="10515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785615"/>
            <a:ext cx="4769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JPD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4096511"/>
            <a:ext cx="47699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Kos per KM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DIVIDE ( SUM(JPD[kos_projek]),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         SUM(JPD[panjang_jalan])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657600"/>
            <a:ext cx="5227167" cy="1051560"/>
          </a:xfrm>
          <a:prstGeom prst="roundRect">
            <a:avLst/>
          </a:prstGeom>
          <a:solidFill>
            <a:srgbClr val="0F121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3657600"/>
            <a:ext cx="54864" cy="105156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4759" y="3785615"/>
            <a:ext cx="4769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Consolas"/>
              </a:rPr>
              <a:t>BELB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759" y="4096511"/>
            <a:ext cx="476996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Kos per Sambungan =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DIVIDE ( SUM(BELB[kos_projek]),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E9A8"/>
                </a:solidFill>
                <a:latin typeface="Consolas"/>
              </a:rPr>
              <a:t>         SUM(BELB[jumlah_projek_peserta]) 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2920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501091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Benchmark ~RM9-11 juta/km hanya indikatif — ambil kira geografi, skop &amp; keadaan tapak sebelum simpul.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6 / 16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30647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13 · VISUAL AI TERBINA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Analitik AI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tanpa lesen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Key Influencers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Apa paling pengaruhi status "Merah"?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938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06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06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Decomposition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06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Pecah belanja: negeri → daerah →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2076" y="1965960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3244" y="214884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3244" y="253288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Smart Narrative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244" y="291693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Ringkasan teks automatik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Anomaly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Kesan lonjakan belanja luar norma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3938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5106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5106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5106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"Explain increase/decrease" — kenapa berubah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2076" y="3520439"/>
            <a:ext cx="3423818" cy="1371600"/>
          </a:xfrm>
          <a:prstGeom prst="roundRect">
            <a:avLst/>
          </a:prstGeom>
          <a:solidFill>
            <a:srgbClr val="262B38"/>
          </a:solidFill>
          <a:ln w="15875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3244" y="3703320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EEF1F6"/>
                </a:solidFill>
                <a:latin typeface="Arial"/>
              </a:rPr>
              <a:t>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3244" y="4087368"/>
            <a:ext cx="302148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Quick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3244" y="4471416"/>
            <a:ext cx="3021482" cy="219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Arial"/>
              </a:rPr>
              <a:t>AI imbas model, cari corak automatik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16636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14807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Semua percuma &amp; terbina (tiada F64) — tidak berbual bahasa biasa. Tambahan: "Automatically find clusters" kumpul projek serupa. Copilot (SESI 14) ialah lapisan sembang di atasnya.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7 / 16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318918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Copilot —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pegawai analisis maya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Tanya data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bahasa biasa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(NL Q&amp;A) — tanpa tulis DAX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Jana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halaman laporan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automatik daripada arahan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Ringkas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naratif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&amp; terangkan insight visual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11"/>
                </a:solidFill>
                <a:latin typeface="Arial"/>
              </a:rPr>
              <a:t>•  </a:t>
            </a:r>
            <a:r>
              <a:rPr sz="1500" b="0" i="0">
                <a:solidFill>
                  <a:srgbClr val="EEF1F6"/>
                </a:solidFill>
                <a:latin typeface="Arial"/>
              </a:rPr>
              <a:t>Cadang / tulis </a:t>
            </a:r>
            <a:r>
              <a:rPr sz="1500" b="1" i="0">
                <a:solidFill>
                  <a:srgbClr val="EEF1F6"/>
                </a:solidFill>
                <a:latin typeface="Arial"/>
              </a:rPr>
              <a:t>measure DAX</a:t>
            </a:r>
            <a:r>
              <a:rPr sz="1500" b="0" i="0">
                <a:solidFill>
                  <a:srgbClr val="EEF1F6"/>
                </a:solidFill>
                <a:latin typeface="Arial"/>
              </a:rPr>
              <a:t> daripada bahasa biasa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10820095" cy="91440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361688"/>
            <a:ext cx="102714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5C56B"/>
                </a:solidFill>
                <a:latin typeface="Arial"/>
              </a:rPr>
              <a:t>Lesen: </a:t>
            </a:r>
            <a:r>
              <a:rPr sz="1350" b="0" i="0">
                <a:solidFill>
                  <a:srgbClr val="EEF1F6"/>
                </a:solidFill>
                <a:latin typeface="Arial"/>
              </a:rPr>
              <a:t>Copilot perlukan Fabric F64+ / Premium. Sahkan dengan IT KKDW. Jika tiada — guna Q&amp;A visual (percuma).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530352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28523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Dua peranan: pengguna biasa (tanya &amp; ringkas) vs teknikal (auto-jana laporan, tulis DAX). Copilot menghormati RLS/OLS — jawapan terhad kepada data yang dibenarkan.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8 / 16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306470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CONTOH PERTANYAAN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Tanya gaya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pengurusan KKDW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"Senaraikan 10 projek JPD dengan jurang terbesar antara jadual dan sebenar."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624328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"Negeri mana perbelanjaan BELB tertinggi tetapi kemajuan paling rendah?"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82696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01568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"Ringkaskan prestasi projek BELB untuk Sabah."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941064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5993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"Apakah tiga isu utama portfolio JPD pada tempoh semasa?"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99431"/>
            <a:ext cx="10820095" cy="548640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18303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1">
                <a:solidFill>
                  <a:srgbClr val="EEF1F6"/>
                </a:solidFill>
                <a:latin typeface="Arial"/>
              </a:rPr>
              <a:t>"Cari projek kemajuan fizikal &lt; 50% tetapi guna &gt; 70% peruntukan."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4406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54223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Untuk setiap jawapan — semak terhadap data sumber. AI membantu, anda memandu.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9 / 16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615184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SESI 14 · BATASAN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AI membantu,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anda memandu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0820095" cy="128016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5C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102714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EEF1F6"/>
                </a:solidFill>
                <a:latin typeface="Arial"/>
              </a:rPr>
              <a:t>Copilot boleh salah atau terlepas konteks. </a:t>
            </a:r>
            <a:r>
              <a:rPr sz="1600" b="1" i="0">
                <a:solidFill>
                  <a:srgbClr val="F5C56B"/>
                </a:solidFill>
                <a:latin typeface="Arial"/>
              </a:rPr>
              <a:t>Sentiasa semak</a:t>
            </a:r>
            <a:r>
              <a:rPr sz="1600" b="0" i="0">
                <a:solidFill>
                  <a:srgbClr val="EEF1F6"/>
                </a:solidFill>
                <a:latin typeface="Arial"/>
              </a:rPr>
              <a:t> insight terhadap data sumber sebelum dibawa ke keputusan pengurusan.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7600"/>
            <a:ext cx="1082009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Jangan kongsi data sensitif ke perkhidmatan AI luar kawalan tanpa kelulusan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Sahkan angka penting secara manual (matriks / measure)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•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Gunakan AI untuk mempercepat, bukan menggantikan pertimbangan pegawai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10 / 16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430121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Soalan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pengurusan utama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20095" cy="1371600"/>
          </a:xfrm>
          <a:prstGeom prst="roundRect">
            <a:avLst/>
          </a:prstGeom>
          <a:solidFill>
            <a:srgbClr val="332C16"/>
          </a:solidFill>
          <a:ln w="19050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1800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1">
                <a:solidFill>
                  <a:srgbClr val="FFFFFF"/>
                </a:solidFill>
                <a:latin typeface="Arial"/>
              </a:rPr>
              <a:t>"Daripada keseluruhan portfolio JPD dan BELB, projek dan kawasan manakah yang perlu diberi keutamaan oleh pengurusan KKDW, dan mengapa?"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118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D84D"/>
                </a:solidFill>
                <a:latin typeface="Consolas"/>
              </a:rPr>
              <a:t>Deliverable: capstone.pbix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1082009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Dashboard 5 halaman + measures risiko + Priority Index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Ringkasan eksekutif (Smart Narrative / Copilot)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C811"/>
                </a:solidFill>
                <a:latin typeface="Arial"/>
              </a:rPr>
              <a:t>•  </a:t>
            </a:r>
            <a:r>
              <a:rPr sz="1400" b="0" i="0">
                <a:solidFill>
                  <a:srgbClr val="EEF1F6"/>
                </a:solidFill>
                <a:latin typeface="Arial"/>
              </a:rPr>
              <a:t>3–5 cadangan keutamaan berpaksikan data + pembentangan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11 / 16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152887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PENILAIAN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Kriteria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834823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Kriteria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5474" y="2011680"/>
            <a:ext cx="22889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Wajaran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32257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9152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Penyediaan &amp; pemodelan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74" y="2359152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KPI &amp; measures (DAX)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474" y="2926080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93008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Reka bentuk dashboard &amp; interaktiviti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474" y="3493008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9936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Analitik risiko &amp; penggunaan Copilot/AI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474" y="4059936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8348234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Pembentangan &amp; cadangan pengurusan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474" y="4626864"/>
            <a:ext cx="22889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EF1F6"/>
                </a:solidFill>
                <a:latin typeface="Arial"/>
              </a:rPr>
              <a:t>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44068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42239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Lengkap semua → Sijil Penyertaan: Visualisasi Data &amp; Dashboard Pintar dengan Power BI, Fabric &amp; Copilot.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12 / 16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2022652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RUMUSAN KURSUS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Rantaian kerja data </a:t>
            </a:r>
            <a:r>
              <a:rPr sz="3800" b="1" i="0">
                <a:solidFill>
                  <a:srgbClr val="F2C811"/>
                </a:solidFill>
                <a:latin typeface="Arial"/>
              </a:rPr>
              <a:t>lengkap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41324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7124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7748" y="1920240"/>
            <a:ext cx="720547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Fabric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8296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92024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8689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9313" y="1920240"/>
            <a:ext cx="899769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Analitik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9083" y="1920240"/>
            <a:ext cx="310896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2C811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9707" y="1920240"/>
            <a:ext cx="810158" cy="56692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1300" b="1">
                <a:solidFill>
                  <a:srgbClr val="EEF1F6"/>
                </a:solidFill>
                <a:latin typeface="Arial"/>
              </a:rPr>
              <a:t>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108200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Sedia &amp; model data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(Fabric / Power Query)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Bina dashboard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(Power BI / DAX)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Analitik risiko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(varians, Risk Score, Priority)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1">
                <a:solidFill>
                  <a:srgbClr val="F2C811"/>
                </a:solidFill>
                <a:latin typeface="Arial"/>
              </a:rPr>
              <a:t>✅  </a:t>
            </a:r>
            <a:r>
              <a:rPr sz="1450" b="0" i="0">
                <a:solidFill>
                  <a:srgbClr val="EEF1F6"/>
                </a:solidFill>
                <a:latin typeface="Arial"/>
              </a:rPr>
              <a:t>Insight AI </a:t>
            </a:r>
            <a:r>
              <a:rPr sz="1450" b="1" i="0">
                <a:solidFill>
                  <a:srgbClr val="EEF1F6"/>
                </a:solidFill>
                <a:latin typeface="Arial"/>
              </a:rPr>
              <a:t>(Copilot / visual AI)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10820095" cy="82296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956048"/>
            <a:ext cx="102714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EEF1F6"/>
                </a:solidFill>
                <a:latin typeface="Arial"/>
              </a:rPr>
              <a:t>Anda kini boleh menukar data projek luar bandar KKDW kepada insight yang menyokong keputusan.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13 / 16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997756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TANGKAPAN SKRIN SEBENAR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2C811"/>
                </a:solidFill>
                <a:latin typeface="Arial"/>
              </a:rPr>
              <a:t>Copilot </a:t>
            </a:r>
            <a:r>
              <a:rPr sz="2700" b="1" i="0">
                <a:solidFill>
                  <a:srgbClr val="FFFFFF"/>
                </a:solidFill>
                <a:latin typeface="Arial"/>
              </a:rPr>
              <a:t>menjana laporan (sebenar)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5120640" cy="2855742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91640"/>
            <a:ext cx="5120640" cy="28557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Copilot: satu arahan bahasa biasa → halaman laporan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2512" y="48280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Arial"/>
              </a:rPr>
              <a:t>Executive Projek Overview atas KKDW_Model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36576" cy="566928"/>
          </a:xfrm>
          <a:prstGeom prst="round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5330952"/>
            <a:ext cx="1054577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Copilot menjana keseluruhan halaman dari satu arahan — atas model DirectLake KKDW_Model, dalam pelayar (tanpa Desktop).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14 / 16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3899001" cy="384048"/>
          </a:xfrm>
          <a:prstGeom prst="roundRect">
            <a:avLst/>
          </a:prstGeom>
          <a:solidFill>
            <a:srgbClr val="262B38"/>
          </a:solidFill>
          <a:ln w="12700">
            <a:solidFill>
              <a:srgbClr val="3C44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l"/>
            <a:r>
              <a:rPr sz="1100" b="1">
                <a:solidFill>
                  <a:srgbClr val="FFD84D"/>
                </a:solidFill>
                <a:latin typeface="Arial"/>
              </a:rPr>
              <a:t>LAMPIRAN · ALTERNATIF OPEN-SOURCE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32688"/>
            <a:ext cx="108200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Alternatif </a:t>
            </a:r>
            <a:r>
              <a:rPr sz="2700" b="1" i="0">
                <a:solidFill>
                  <a:srgbClr val="F2C811"/>
                </a:solidFill>
                <a:latin typeface="Arial"/>
              </a:rPr>
              <a:t>sumber terbuka</a:t>
            </a:r>
            <a:r>
              <a:rPr sz="2700" b="1" i="0">
                <a:solidFill>
                  <a:srgbClr val="FFFFFF"/>
                </a:solidFill>
                <a:latin typeface="Arial"/>
              </a:rPr>
              <a:t> (self-hosted)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Arial"/>
              </a:rPr>
              <a:t>Bukan stack kursus — rujukan bila kedaulatan data on-prem, elak lesen/kapasiti, atau kawalan infra jadi keutamaan.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402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Lapisan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2240280"/>
            <a:ext cx="5318607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D84D"/>
                </a:solidFill>
                <a:latin typeface="Arial"/>
              </a:rPr>
              <a:t>Alternatif open-source (on-prem / VM)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51176"/>
            <a:ext cx="10820095" cy="18288"/>
          </a:xfrm>
          <a:prstGeom prst="rect">
            <a:avLst/>
          </a:prstGeom>
          <a:solidFill>
            <a:srgbClr val="3C4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8775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OneLake / Lakehouse / Warehouse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58775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ClickHouse · DuckDB · Postgres + MinIO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26664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Transform (Dataflow Gen2 / Power Query)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847" y="3026664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dbt · Airbyte · Airflow · n8n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65576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Visualisasi (Power BI)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3465576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Apache Superset · Metabase · Grafana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04487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Copilot / NL Q&amp;A / jana DAX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47" y="3904487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LLM + text-to-SQL (Vanna) · n8n AI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Power Automate / Data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5847" y="4343400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n8n — amaran email/Teams/WhatsApp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8231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Microsoft Entra (identiti / SSO)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782312"/>
            <a:ext cx="5318607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EEF1F6"/>
                </a:solidFill>
                <a:latin typeface="Arial"/>
              </a:rPr>
              <a:t>Keycloak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0680"/>
            <a:ext cx="10820095" cy="868680"/>
          </a:xfrm>
          <a:prstGeom prst="roundRect">
            <a:avLst/>
          </a:prstGeom>
          <a:solidFill>
            <a:srgbClr val="332C16"/>
          </a:solidFill>
          <a:ln w="15875">
            <a:solidFill>
              <a:srgbClr val="F2C8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96128"/>
            <a:ext cx="1027145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2C811"/>
                </a:solidFill>
                <a:latin typeface="Arial"/>
              </a:rPr>
              <a:t>Gabungan popular: </a:t>
            </a:r>
            <a:r>
              <a:rPr sz="1150" b="0" i="0">
                <a:solidFill>
                  <a:srgbClr val="EEF1F6"/>
                </a:solidFill>
                <a:latin typeface="Arial"/>
              </a:rPr>
              <a:t>ClickHouse + Superset (+ n8n untuk ingest/automasi). Konsep — Lakehouse, star schema, SQL/DAX, dashboard — boleh dipindah. Kekal Fabric + Power BI melainkan kedaulatan data / lesen jadi keutamaan.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15 / 16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Tahniah!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7472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9AA4B2"/>
                </a:solidFill>
                <a:latin typeface="Arial"/>
              </a:rPr>
              <a:t>Kursus 3 hari selesai — daripada data mentah kepada dashboard pintar KKDW.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89120"/>
            <a:ext cx="108200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D84D"/>
                </a:solidFill>
                <a:latin typeface="Consolas"/>
              </a:rPr>
              <a:t>hari-3/README.md · hari-3/snippets/lab.md · capstone.pbix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Kursus Dashboard Pintar KKDW · Power BI · Fabric · 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AA4B2"/>
                </a:solidFill>
                <a:latin typeface="Arial"/>
              </a:rPr>
              <a:t>16 / 16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Visualisasi Data &amp; Dashboard Pintar Berasaskan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2C811"/>
                </a:solidFill>
                <a:latin typeface="Arial"/>
              </a:rPr>
              <a:t>Power BI · Microsoft Fabric · Copilot</a:t>
            </a:r>
          </a:p>
          <a:p>
            <a:pPr>
              <a:spcBef>
                <a:spcPts val="800"/>
              </a:spcBef>
            </a:pPr>
            <a:r>
              <a:rPr sz="1300" i="1">
                <a:solidFill>
                  <a:srgbClr val="FFD84D"/>
                </a:solidFill>
                <a:latin typeface="Arial"/>
              </a:rPr>
              <a:t>Tema: Dashboard Pintar Pemantauan Prestasi Program JPD &amp; BELB Bersepadu dengan MyProjek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9AA4B2"/>
                </a:solidFill>
                <a:latin typeface="Arial"/>
              </a:rPr>
              <a:t>Kementerian Kemajuan Desa dan Wilayah (KKDW) · 3 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F2C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Visualisasi Data &amp; Dashboard Pintar Berasaskan AI</dc:title>
  <dc:subject>Power BI · Microsoft Fabric · Copilot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